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0"/>
            <a:ext cx="11247120" cy="1371600"/>
          </a:xfrm>
          <a:prstGeom prst="rect">
            <a:avLst/>
          </a:prstGeom>
          <a:noFill/>
        </p:spPr>
        <p:txBody>
          <a:bodyPr wrap="square">
            <a:spAutoFit/>
          </a:bodyPr>
          <a:lstStyle/>
          <a:p>
            <a:pPr algn="ctr"/>
            <a:r>
              <a:rPr sz="3200" b="1" i="0">
                <a:solidFill>
                  <a:srgbClr val="000000"/>
                </a:solidFill>
              </a:rPr>
              <a:t>LeafScan: A Deep Learning-Based Approach
for Plant Leaf Disease Detection Using EfficientNet</a:t>
            </a:r>
          </a:p>
        </p:txBody>
      </p:sp>
      <p:sp>
        <p:nvSpPr>
          <p:cNvPr id="3" name="Rectangle 2"/>
          <p:cNvSpPr/>
          <p:nvPr/>
        </p:nvSpPr>
        <p:spPr>
          <a:xfrm>
            <a:off x="1828800" y="3017520"/>
            <a:ext cx="8503920"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0"/>
            <a:ext cx="11247120" cy="365760"/>
          </a:xfrm>
          <a:prstGeom prst="rect">
            <a:avLst/>
          </a:prstGeom>
          <a:noFill/>
        </p:spPr>
        <p:txBody>
          <a:bodyPr wrap="square">
            <a:spAutoFit/>
          </a:bodyPr>
          <a:lstStyle/>
          <a:p>
            <a:pPr algn="ctr"/>
            <a:r>
              <a:rPr sz="1600" b="1" i="0">
                <a:solidFill>
                  <a:srgbClr val="000000"/>
                </a:solidFill>
              </a:rPr>
              <a:t>Guided By:</a:t>
            </a:r>
          </a:p>
        </p:txBody>
      </p:sp>
      <p:sp>
        <p:nvSpPr>
          <p:cNvPr id="5" name="TextBox 4"/>
          <p:cNvSpPr txBox="1"/>
          <p:nvPr/>
        </p:nvSpPr>
        <p:spPr>
          <a:xfrm>
            <a:off x="457200" y="3566160"/>
            <a:ext cx="11247120" cy="365760"/>
          </a:xfrm>
          <a:prstGeom prst="rect">
            <a:avLst/>
          </a:prstGeom>
          <a:noFill/>
        </p:spPr>
        <p:txBody>
          <a:bodyPr wrap="square">
            <a:spAutoFit/>
          </a:bodyPr>
          <a:lstStyle/>
          <a:p>
            <a:pPr algn="ctr"/>
            <a:r>
              <a:rPr sz="1400" b="0" i="0">
                <a:solidFill>
                  <a:srgbClr val="000000"/>
                </a:solidFill>
              </a:rPr>
              <a:t>Dr. S. Kanithan  |  Department of CSE (AI &amp; ML), JAIN (Deemed-to-be-university)</a:t>
            </a:r>
          </a:p>
        </p:txBody>
      </p:sp>
      <p:sp>
        <p:nvSpPr>
          <p:cNvPr id="6" name="TextBox 5"/>
          <p:cNvSpPr txBox="1"/>
          <p:nvPr/>
        </p:nvSpPr>
        <p:spPr>
          <a:xfrm>
            <a:off x="457200" y="4114800"/>
            <a:ext cx="11247120" cy="365760"/>
          </a:xfrm>
          <a:prstGeom prst="rect">
            <a:avLst/>
          </a:prstGeom>
          <a:noFill/>
        </p:spPr>
        <p:txBody>
          <a:bodyPr wrap="square">
            <a:spAutoFit/>
          </a:bodyPr>
          <a:lstStyle/>
          <a:p>
            <a:pPr algn="ctr"/>
            <a:r>
              <a:rPr sz="1600" b="1" i="0">
                <a:solidFill>
                  <a:srgbClr val="000000"/>
                </a:solidFill>
              </a:rPr>
              <a:t>Presented By:</a:t>
            </a:r>
          </a:p>
        </p:txBody>
      </p:sp>
      <p:sp>
        <p:nvSpPr>
          <p:cNvPr id="7" name="TextBox 6"/>
          <p:cNvSpPr txBox="1"/>
          <p:nvPr/>
        </p:nvSpPr>
        <p:spPr>
          <a:xfrm>
            <a:off x="457200" y="4480560"/>
            <a:ext cx="11247120" cy="548640"/>
          </a:xfrm>
          <a:prstGeom prst="rect">
            <a:avLst/>
          </a:prstGeom>
          <a:noFill/>
        </p:spPr>
        <p:txBody>
          <a:bodyPr wrap="square">
            <a:spAutoFit/>
          </a:bodyPr>
          <a:lstStyle/>
          <a:p>
            <a:pPr algn="ctr"/>
            <a:r>
              <a:rPr sz="1300" b="0" i="0">
                <a:solidFill>
                  <a:srgbClr val="000000"/>
                </a:solidFill>
              </a:rPr>
              <a:t>Abdul Sami  |  Yedhoti Hari Prasad  |  S Dhruva  |  Tejas K  |  Varish Gada
Department of CSE (AI &amp; ML), JAIN (Deemed-to-be-university), Karnataka,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CONTENTS</a:t>
            </a:r>
          </a:p>
        </p:txBody>
      </p:sp>
      <p:sp>
        <p:nvSpPr>
          <p:cNvPr id="3" name="TextBox 2"/>
          <p:cNvSpPr txBox="1"/>
          <p:nvPr/>
        </p:nvSpPr>
        <p:spPr>
          <a:xfrm>
            <a:off x="1097280" y="1234440"/>
            <a:ext cx="10058400" cy="347472"/>
          </a:xfrm>
          <a:prstGeom prst="rect">
            <a:avLst/>
          </a:prstGeom>
          <a:noFill/>
        </p:spPr>
        <p:txBody>
          <a:bodyPr wrap="square">
            <a:spAutoFit/>
          </a:bodyPr>
          <a:lstStyle/>
          <a:p>
            <a:pPr algn="l"/>
            <a:r>
              <a:rPr sz="1800" b="0" i="0">
                <a:solidFill>
                  <a:srgbClr val="000000"/>
                </a:solidFill>
              </a:rPr>
              <a:t>❖ Abstract</a:t>
            </a:r>
          </a:p>
        </p:txBody>
      </p:sp>
      <p:sp>
        <p:nvSpPr>
          <p:cNvPr id="4" name="TextBox 3"/>
          <p:cNvSpPr txBox="1"/>
          <p:nvPr/>
        </p:nvSpPr>
        <p:spPr>
          <a:xfrm>
            <a:off x="1097280" y="1636776"/>
            <a:ext cx="10058400" cy="347472"/>
          </a:xfrm>
          <a:prstGeom prst="rect">
            <a:avLst/>
          </a:prstGeom>
          <a:noFill/>
        </p:spPr>
        <p:txBody>
          <a:bodyPr wrap="square">
            <a:spAutoFit/>
          </a:bodyPr>
          <a:lstStyle/>
          <a:p>
            <a:pPr algn="l"/>
            <a:r>
              <a:rPr sz="1800" b="0" i="0">
                <a:solidFill>
                  <a:srgbClr val="000000"/>
                </a:solidFill>
              </a:rPr>
              <a:t>❖ Introduction</a:t>
            </a:r>
          </a:p>
        </p:txBody>
      </p:sp>
      <p:sp>
        <p:nvSpPr>
          <p:cNvPr id="5" name="TextBox 4"/>
          <p:cNvSpPr txBox="1"/>
          <p:nvPr/>
        </p:nvSpPr>
        <p:spPr>
          <a:xfrm>
            <a:off x="1097280" y="2039112"/>
            <a:ext cx="10058400" cy="347472"/>
          </a:xfrm>
          <a:prstGeom prst="rect">
            <a:avLst/>
          </a:prstGeom>
          <a:noFill/>
        </p:spPr>
        <p:txBody>
          <a:bodyPr wrap="square">
            <a:spAutoFit/>
          </a:bodyPr>
          <a:lstStyle/>
          <a:p>
            <a:pPr algn="l"/>
            <a:r>
              <a:rPr sz="1800" b="0" i="0">
                <a:solidFill>
                  <a:srgbClr val="000000"/>
                </a:solidFill>
              </a:rPr>
              <a:t>❖ Dataset Description</a:t>
            </a:r>
          </a:p>
        </p:txBody>
      </p:sp>
      <p:sp>
        <p:nvSpPr>
          <p:cNvPr id="6" name="TextBox 5"/>
          <p:cNvSpPr txBox="1"/>
          <p:nvPr/>
        </p:nvSpPr>
        <p:spPr>
          <a:xfrm>
            <a:off x="1097280" y="2441448"/>
            <a:ext cx="10058400" cy="347472"/>
          </a:xfrm>
          <a:prstGeom prst="rect">
            <a:avLst/>
          </a:prstGeom>
          <a:noFill/>
        </p:spPr>
        <p:txBody>
          <a:bodyPr wrap="square">
            <a:spAutoFit/>
          </a:bodyPr>
          <a:lstStyle/>
          <a:p>
            <a:pPr algn="l"/>
            <a:r>
              <a:rPr sz="1800" b="0" i="0">
                <a:solidFill>
                  <a:srgbClr val="000000"/>
                </a:solidFill>
              </a:rPr>
              <a:t>❖ Data Preprocessing &amp; Augmentation</a:t>
            </a:r>
          </a:p>
        </p:txBody>
      </p:sp>
      <p:sp>
        <p:nvSpPr>
          <p:cNvPr id="7" name="TextBox 6"/>
          <p:cNvSpPr txBox="1"/>
          <p:nvPr/>
        </p:nvSpPr>
        <p:spPr>
          <a:xfrm>
            <a:off x="1097280" y="2843784"/>
            <a:ext cx="10058400" cy="347472"/>
          </a:xfrm>
          <a:prstGeom prst="rect">
            <a:avLst/>
          </a:prstGeom>
          <a:noFill/>
        </p:spPr>
        <p:txBody>
          <a:bodyPr wrap="square">
            <a:spAutoFit/>
          </a:bodyPr>
          <a:lstStyle/>
          <a:p>
            <a:pPr algn="l"/>
            <a:r>
              <a:rPr sz="1800" b="0" i="0">
                <a:solidFill>
                  <a:srgbClr val="000000"/>
                </a:solidFill>
              </a:rPr>
              <a:t>❖ Model Architecture (EfficientNetB3)</a:t>
            </a:r>
          </a:p>
        </p:txBody>
      </p:sp>
      <p:sp>
        <p:nvSpPr>
          <p:cNvPr id="8" name="TextBox 7"/>
          <p:cNvSpPr txBox="1"/>
          <p:nvPr/>
        </p:nvSpPr>
        <p:spPr>
          <a:xfrm>
            <a:off x="1097280" y="3246120"/>
            <a:ext cx="10058400" cy="347472"/>
          </a:xfrm>
          <a:prstGeom prst="rect">
            <a:avLst/>
          </a:prstGeom>
          <a:noFill/>
        </p:spPr>
        <p:txBody>
          <a:bodyPr wrap="square">
            <a:spAutoFit/>
          </a:bodyPr>
          <a:lstStyle/>
          <a:p>
            <a:pPr algn="l"/>
            <a:r>
              <a:rPr sz="1800" b="0" i="0">
                <a:solidFill>
                  <a:srgbClr val="000000"/>
                </a:solidFill>
              </a:rPr>
              <a:t>❖ 3-Phase Training Strategy</a:t>
            </a:r>
          </a:p>
        </p:txBody>
      </p:sp>
      <p:sp>
        <p:nvSpPr>
          <p:cNvPr id="9" name="TextBox 8"/>
          <p:cNvSpPr txBox="1"/>
          <p:nvPr/>
        </p:nvSpPr>
        <p:spPr>
          <a:xfrm>
            <a:off x="1097280" y="3648456"/>
            <a:ext cx="10058400" cy="347472"/>
          </a:xfrm>
          <a:prstGeom prst="rect">
            <a:avLst/>
          </a:prstGeom>
          <a:noFill/>
        </p:spPr>
        <p:txBody>
          <a:bodyPr wrap="square">
            <a:spAutoFit/>
          </a:bodyPr>
          <a:lstStyle/>
          <a:p>
            <a:pPr algn="l"/>
            <a:r>
              <a:rPr sz="1800" b="0" i="0">
                <a:solidFill>
                  <a:srgbClr val="000000"/>
                </a:solidFill>
              </a:rPr>
              <a:t>❖ Not-a-Leaf Detection</a:t>
            </a:r>
          </a:p>
        </p:txBody>
      </p:sp>
      <p:sp>
        <p:nvSpPr>
          <p:cNvPr id="10" name="TextBox 9"/>
          <p:cNvSpPr txBox="1"/>
          <p:nvPr/>
        </p:nvSpPr>
        <p:spPr>
          <a:xfrm>
            <a:off x="1097280" y="4050792"/>
            <a:ext cx="10058400" cy="347472"/>
          </a:xfrm>
          <a:prstGeom prst="rect">
            <a:avLst/>
          </a:prstGeom>
          <a:noFill/>
        </p:spPr>
        <p:txBody>
          <a:bodyPr wrap="square">
            <a:spAutoFit/>
          </a:bodyPr>
          <a:lstStyle/>
          <a:p>
            <a:pPr algn="l"/>
            <a:r>
              <a:rPr sz="1800" b="0" i="0">
                <a:solidFill>
                  <a:srgbClr val="000000"/>
                </a:solidFill>
              </a:rPr>
              <a:t>❖ System Design &amp; Workflow</a:t>
            </a:r>
          </a:p>
        </p:txBody>
      </p:sp>
      <p:sp>
        <p:nvSpPr>
          <p:cNvPr id="11" name="TextBox 10"/>
          <p:cNvSpPr txBox="1"/>
          <p:nvPr/>
        </p:nvSpPr>
        <p:spPr>
          <a:xfrm>
            <a:off x="1097280" y="4453128"/>
            <a:ext cx="10058400" cy="347472"/>
          </a:xfrm>
          <a:prstGeom prst="rect">
            <a:avLst/>
          </a:prstGeom>
          <a:noFill/>
        </p:spPr>
        <p:txBody>
          <a:bodyPr wrap="square">
            <a:spAutoFit/>
          </a:bodyPr>
          <a:lstStyle/>
          <a:p>
            <a:pPr algn="l"/>
            <a:r>
              <a:rPr sz="1800" b="0" i="0">
                <a:solidFill>
                  <a:srgbClr val="000000"/>
                </a:solidFill>
              </a:rPr>
              <a:t>❖ Performance &amp; Results</a:t>
            </a:r>
          </a:p>
        </p:txBody>
      </p:sp>
      <p:sp>
        <p:nvSpPr>
          <p:cNvPr id="12" name="TextBox 11"/>
          <p:cNvSpPr txBox="1"/>
          <p:nvPr/>
        </p:nvSpPr>
        <p:spPr>
          <a:xfrm>
            <a:off x="1097280" y="4855464"/>
            <a:ext cx="10058400" cy="347472"/>
          </a:xfrm>
          <a:prstGeom prst="rect">
            <a:avLst/>
          </a:prstGeom>
          <a:noFill/>
        </p:spPr>
        <p:txBody>
          <a:bodyPr wrap="square">
            <a:spAutoFit/>
          </a:bodyPr>
          <a:lstStyle/>
          <a:p>
            <a:pPr algn="l"/>
            <a:r>
              <a:rPr sz="1800" b="0" i="0">
                <a:solidFill>
                  <a:srgbClr val="000000"/>
                </a:solidFill>
              </a:rPr>
              <a:t>❖ Limitations &amp; Future Work</a:t>
            </a:r>
          </a:p>
        </p:txBody>
      </p:sp>
      <p:sp>
        <p:nvSpPr>
          <p:cNvPr id="13" name="TextBox 12"/>
          <p:cNvSpPr txBox="1"/>
          <p:nvPr/>
        </p:nvSpPr>
        <p:spPr>
          <a:xfrm>
            <a:off x="1097280" y="5257800"/>
            <a:ext cx="10058400" cy="347472"/>
          </a:xfrm>
          <a:prstGeom prst="rect">
            <a:avLst/>
          </a:prstGeom>
          <a:noFill/>
        </p:spPr>
        <p:txBody>
          <a:bodyPr wrap="square">
            <a:spAutoFit/>
          </a:bodyPr>
          <a:lstStyle/>
          <a:p>
            <a:pPr algn="l"/>
            <a:r>
              <a:rPr sz="1800" b="0" i="0">
                <a:solidFill>
                  <a:srgbClr val="000000"/>
                </a:solidFill>
              </a:rPr>
              <a:t>❖ Conclusion</a:t>
            </a:r>
          </a:p>
        </p:txBody>
      </p:sp>
      <p:sp>
        <p:nvSpPr>
          <p:cNvPr id="14" name="TextBox 13"/>
          <p:cNvSpPr txBox="1"/>
          <p:nvPr/>
        </p:nvSpPr>
        <p:spPr>
          <a:xfrm>
            <a:off x="1097280" y="5660136"/>
            <a:ext cx="10058400" cy="347472"/>
          </a:xfrm>
          <a:prstGeom prst="rect">
            <a:avLst/>
          </a:prstGeom>
          <a:noFill/>
        </p:spPr>
        <p:txBody>
          <a:bodyPr wrap="square">
            <a:spAutoFit/>
          </a:bodyPr>
          <a:lstStyle/>
          <a:p>
            <a:pPr algn="l"/>
            <a:r>
              <a:rPr sz="1800" b="0" i="0">
                <a:solidFill>
                  <a:srgbClr val="000000"/>
                </a:solidFill>
              </a:rPr>
              <a:t>❖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ABSTRACT</a:t>
            </a:r>
          </a:p>
        </p:txBody>
      </p:sp>
      <p:sp>
        <p:nvSpPr>
          <p:cNvPr id="3" name="TextBox 2"/>
          <p:cNvSpPr txBox="1"/>
          <p:nvPr/>
        </p:nvSpPr>
        <p:spPr>
          <a:xfrm>
            <a:off x="548640" y="1188720"/>
            <a:ext cx="11064240" cy="5303520"/>
          </a:xfrm>
          <a:prstGeom prst="rect">
            <a:avLst/>
          </a:prstGeom>
          <a:noFill/>
        </p:spPr>
        <p:txBody>
          <a:bodyPr wrap="square">
            <a:spAutoFit/>
          </a:bodyPr>
          <a:lstStyle/>
          <a:p>
            <a:pPr algn="l"/>
            <a:r>
              <a:rPr sz="1700" b="0" i="0">
                <a:solidFill>
                  <a:srgbClr val="000000"/>
                </a:solidFill>
              </a:rPr>
              <a:t>LeafScan is a full-stack machine learning application that identifies plant leaf diseases from any photo. It works on images from cameras, the internet, or anywhere — not just dataset images — and correctly rejects non-leaf inputs.
Diseases that impact healthy plants are a significant problem for farmers because they lower the quality and quantity of crops. For good crop management and food security, it is important to detect these diseases early and accurately.
The system is built on EfficientNetB3, a deep CNN architecture trained on the PlantVillage dataset (54,306 images, 39 classes across 14 crops). It achieves 94–96 % test accuracy, runs inference in 20–50 ms on a GPU, and employs a 3-layer rejection mechanism so that non-leaf inputs are automatically flagged rather than misclassified.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INTRODUCTION</a:t>
            </a:r>
          </a:p>
        </p:txBody>
      </p:sp>
      <p:sp>
        <p:nvSpPr>
          <p:cNvPr id="3" name="TextBox 2"/>
          <p:cNvSpPr txBox="1"/>
          <p:nvPr/>
        </p:nvSpPr>
        <p:spPr>
          <a:xfrm>
            <a:off x="731520" y="1234440"/>
            <a:ext cx="10881360" cy="457200"/>
          </a:xfrm>
          <a:prstGeom prst="rect">
            <a:avLst/>
          </a:prstGeom>
          <a:noFill/>
        </p:spPr>
        <p:txBody>
          <a:bodyPr wrap="square">
            <a:spAutoFit/>
          </a:bodyPr>
          <a:lstStyle/>
          <a:p>
            <a:pPr algn="l"/>
            <a:r>
              <a:rPr sz="1600" b="0" i="0">
                <a:solidFill>
                  <a:srgbClr val="000000"/>
                </a:solidFill>
              </a:rPr>
              <a:t>• Plant diseases cause significant losses in global agricultural yield every year.</a:t>
            </a:r>
          </a:p>
        </p:txBody>
      </p:sp>
      <p:sp>
        <p:nvSpPr>
          <p:cNvPr id="4" name="TextBox 3"/>
          <p:cNvSpPr txBox="1"/>
          <p:nvPr/>
        </p:nvSpPr>
        <p:spPr>
          <a:xfrm>
            <a:off x="731520" y="1719072"/>
            <a:ext cx="10881360" cy="457200"/>
          </a:xfrm>
          <a:prstGeom prst="rect">
            <a:avLst/>
          </a:prstGeom>
          <a:noFill/>
        </p:spPr>
        <p:txBody>
          <a:bodyPr wrap="square">
            <a:spAutoFit/>
          </a:bodyPr>
          <a:lstStyle/>
          <a:p>
            <a:pPr algn="l"/>
            <a:r>
              <a:rPr sz="1600" b="0" i="0">
                <a:solidFill>
                  <a:srgbClr val="000000"/>
                </a:solidFill>
              </a:rPr>
              <a:t>• Traditional disease identification relies on visual inspection by experts — slow, expensive, unscalable.</a:t>
            </a:r>
          </a:p>
        </p:txBody>
      </p:sp>
      <p:sp>
        <p:nvSpPr>
          <p:cNvPr id="5" name="TextBox 4"/>
          <p:cNvSpPr txBox="1"/>
          <p:nvPr/>
        </p:nvSpPr>
        <p:spPr>
          <a:xfrm>
            <a:off x="731520" y="2203704"/>
            <a:ext cx="10881360" cy="457200"/>
          </a:xfrm>
          <a:prstGeom prst="rect">
            <a:avLst/>
          </a:prstGeom>
          <a:noFill/>
        </p:spPr>
        <p:txBody>
          <a:bodyPr wrap="square">
            <a:spAutoFit/>
          </a:bodyPr>
          <a:lstStyle/>
          <a:p>
            <a:pPr algn="l"/>
            <a:r>
              <a:rPr sz="1600" b="0" i="0">
                <a:solidFill>
                  <a:srgbClr val="000000"/>
                </a:solidFill>
              </a:rPr>
              <a:t>• Deep learning-based computer vision enables automated, fast, and accurate disease classification.</a:t>
            </a:r>
          </a:p>
        </p:txBody>
      </p:sp>
      <p:sp>
        <p:nvSpPr>
          <p:cNvPr id="6" name="TextBox 5"/>
          <p:cNvSpPr txBox="1"/>
          <p:nvPr/>
        </p:nvSpPr>
        <p:spPr>
          <a:xfrm>
            <a:off x="731520" y="2688336"/>
            <a:ext cx="10881360" cy="457200"/>
          </a:xfrm>
          <a:prstGeom prst="rect">
            <a:avLst/>
          </a:prstGeom>
          <a:noFill/>
        </p:spPr>
        <p:txBody>
          <a:bodyPr wrap="square">
            <a:spAutoFit/>
          </a:bodyPr>
          <a:lstStyle/>
          <a:p>
            <a:pPr algn="l"/>
            <a:r>
              <a:rPr sz="1600" b="0" i="0">
                <a:solidFill>
                  <a:srgbClr val="000000"/>
                </a:solidFill>
              </a:rPr>
              <a:t>• LeafScan uses EfficientNetB3 (pretrained on ImageNet) fine-tuned on the PlantVillage dataset.</a:t>
            </a:r>
          </a:p>
        </p:txBody>
      </p:sp>
      <p:sp>
        <p:nvSpPr>
          <p:cNvPr id="7" name="TextBox 6"/>
          <p:cNvSpPr txBox="1"/>
          <p:nvPr/>
        </p:nvSpPr>
        <p:spPr>
          <a:xfrm>
            <a:off x="731520" y="3172968"/>
            <a:ext cx="10881360" cy="457200"/>
          </a:xfrm>
          <a:prstGeom prst="rect">
            <a:avLst/>
          </a:prstGeom>
          <a:noFill/>
        </p:spPr>
        <p:txBody>
          <a:bodyPr wrap="square">
            <a:spAutoFit/>
          </a:bodyPr>
          <a:lstStyle/>
          <a:p>
            <a:pPr algn="l"/>
            <a:r>
              <a:rPr sz="1600" b="0" i="0">
                <a:solidFill>
                  <a:srgbClr val="000000"/>
                </a:solidFill>
              </a:rPr>
              <a:t>• The system detects 38 crop-disease combinations plus a 'not-a-leaf' rejection class (39 total).</a:t>
            </a:r>
          </a:p>
        </p:txBody>
      </p:sp>
      <p:sp>
        <p:nvSpPr>
          <p:cNvPr id="8" name="TextBox 7"/>
          <p:cNvSpPr txBox="1"/>
          <p:nvPr/>
        </p:nvSpPr>
        <p:spPr>
          <a:xfrm>
            <a:off x="731520" y="3657600"/>
            <a:ext cx="10881360" cy="457200"/>
          </a:xfrm>
          <a:prstGeom prst="rect">
            <a:avLst/>
          </a:prstGeom>
          <a:noFill/>
        </p:spPr>
        <p:txBody>
          <a:bodyPr wrap="square">
            <a:spAutoFit/>
          </a:bodyPr>
          <a:lstStyle/>
          <a:p>
            <a:pPr algn="l"/>
            <a:r>
              <a:rPr sz="1600" b="0" i="0">
                <a:solidFill>
                  <a:srgbClr val="000000"/>
                </a:solidFill>
              </a:rPr>
              <a:t>• Supports real-time inference via a REST API backed by Flask, with an HTML/CSS/JS frontend.</a:t>
            </a:r>
          </a:p>
        </p:txBody>
      </p:sp>
      <p:sp>
        <p:nvSpPr>
          <p:cNvPr id="9" name="TextBox 8"/>
          <p:cNvSpPr txBox="1"/>
          <p:nvPr/>
        </p:nvSpPr>
        <p:spPr>
          <a:xfrm>
            <a:off x="731520" y="4142232"/>
            <a:ext cx="10881360" cy="457200"/>
          </a:xfrm>
          <a:prstGeom prst="rect">
            <a:avLst/>
          </a:prstGeom>
          <a:noFill/>
        </p:spPr>
        <p:txBody>
          <a:bodyPr wrap="square">
            <a:spAutoFit/>
          </a:bodyPr>
          <a:lstStyle/>
          <a:p>
            <a:pPr algn="l"/>
            <a:r>
              <a:rPr sz="1600" b="0" i="0">
                <a:solidFill>
                  <a:srgbClr val="000000"/>
                </a:solidFill>
              </a:rPr>
              <a:t>• Key design goals: high accuracy, generalisation to real-world photos, robust input validation.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DATASET DESCRIPTION — PlantVillage</a:t>
            </a:r>
          </a:p>
        </p:txBody>
      </p:sp>
      <p:sp>
        <p:nvSpPr>
          <p:cNvPr id="3" name="TextBox 2"/>
          <p:cNvSpPr txBox="1"/>
          <p:nvPr/>
        </p:nvSpPr>
        <p:spPr>
          <a:xfrm>
            <a:off x="548640" y="1234440"/>
            <a:ext cx="5669280" cy="384048"/>
          </a:xfrm>
          <a:prstGeom prst="rect">
            <a:avLst/>
          </a:prstGeom>
          <a:noFill/>
        </p:spPr>
        <p:txBody>
          <a:bodyPr wrap="square">
            <a:spAutoFit/>
          </a:bodyPr>
          <a:lstStyle/>
          <a:p>
            <a:pPr algn="l"/>
            <a:r>
              <a:rPr sz="1500" b="0" i="0">
                <a:solidFill>
                  <a:srgbClr val="000000"/>
                </a:solidFill>
              </a:rPr>
              <a:t>• Source: Penn State University (2016)</a:t>
            </a:r>
          </a:p>
        </p:txBody>
      </p:sp>
      <p:sp>
        <p:nvSpPr>
          <p:cNvPr id="4" name="TextBox 3"/>
          <p:cNvSpPr txBox="1"/>
          <p:nvPr/>
        </p:nvSpPr>
        <p:spPr>
          <a:xfrm>
            <a:off x="548640" y="1627632"/>
            <a:ext cx="5669280" cy="384048"/>
          </a:xfrm>
          <a:prstGeom prst="rect">
            <a:avLst/>
          </a:prstGeom>
          <a:noFill/>
        </p:spPr>
        <p:txBody>
          <a:bodyPr wrap="square">
            <a:spAutoFit/>
          </a:bodyPr>
          <a:lstStyle/>
          <a:p>
            <a:pPr algn="l"/>
            <a:r>
              <a:rPr sz="1500" b="0" i="0">
                <a:solidFill>
                  <a:srgbClr val="000000"/>
                </a:solidFill>
              </a:rPr>
              <a:t>• Images: 54,306 labelled photos of plant leaves</a:t>
            </a:r>
          </a:p>
        </p:txBody>
      </p:sp>
      <p:sp>
        <p:nvSpPr>
          <p:cNvPr id="5" name="TextBox 4"/>
          <p:cNvSpPr txBox="1"/>
          <p:nvPr/>
        </p:nvSpPr>
        <p:spPr>
          <a:xfrm>
            <a:off x="548640" y="2020824"/>
            <a:ext cx="5669280" cy="384048"/>
          </a:xfrm>
          <a:prstGeom prst="rect">
            <a:avLst/>
          </a:prstGeom>
          <a:noFill/>
        </p:spPr>
        <p:txBody>
          <a:bodyPr wrap="square">
            <a:spAutoFit/>
          </a:bodyPr>
          <a:lstStyle/>
          <a:p>
            <a:pPr algn="l"/>
            <a:r>
              <a:rPr sz="1500" b="0" i="0">
                <a:solidFill>
                  <a:srgbClr val="000000"/>
                </a:solidFill>
              </a:rPr>
              <a:t>• Crops: 14 species (Apple, Tomato, Potato, Corn, Grape, Orange,</a:t>
            </a:r>
          </a:p>
        </p:txBody>
      </p:sp>
      <p:sp>
        <p:nvSpPr>
          <p:cNvPr id="6" name="TextBox 5"/>
          <p:cNvSpPr txBox="1"/>
          <p:nvPr/>
        </p:nvSpPr>
        <p:spPr>
          <a:xfrm>
            <a:off x="548640" y="2414016"/>
            <a:ext cx="5669280" cy="384048"/>
          </a:xfrm>
          <a:prstGeom prst="rect">
            <a:avLst/>
          </a:prstGeom>
          <a:noFill/>
        </p:spPr>
        <p:txBody>
          <a:bodyPr wrap="square">
            <a:spAutoFit/>
          </a:bodyPr>
          <a:lstStyle/>
          <a:p>
            <a:pPr algn="l"/>
            <a:r>
              <a:rPr sz="1500" b="0" i="0">
                <a:solidFill>
                  <a:srgbClr val="000000"/>
                </a:solidFill>
              </a:rPr>
              <a:t>  Peach, Pepper, Raspberry, Blueberry, Soybean, Squash,</a:t>
            </a:r>
          </a:p>
        </p:txBody>
      </p:sp>
      <p:sp>
        <p:nvSpPr>
          <p:cNvPr id="7" name="TextBox 6"/>
          <p:cNvSpPr txBox="1"/>
          <p:nvPr/>
        </p:nvSpPr>
        <p:spPr>
          <a:xfrm>
            <a:off x="548640" y="2807208"/>
            <a:ext cx="5669280" cy="384048"/>
          </a:xfrm>
          <a:prstGeom prst="rect">
            <a:avLst/>
          </a:prstGeom>
          <a:noFill/>
        </p:spPr>
        <p:txBody>
          <a:bodyPr wrap="square">
            <a:spAutoFit/>
          </a:bodyPr>
          <a:lstStyle/>
          <a:p>
            <a:pPr algn="l"/>
            <a:r>
              <a:rPr sz="1500" b="0" i="0">
                <a:solidFill>
                  <a:srgbClr val="000000"/>
                </a:solidFill>
              </a:rPr>
              <a:t>  Strawberry, Cherry)</a:t>
            </a:r>
          </a:p>
        </p:txBody>
      </p:sp>
      <p:sp>
        <p:nvSpPr>
          <p:cNvPr id="8" name="TextBox 7"/>
          <p:cNvSpPr txBox="1"/>
          <p:nvPr/>
        </p:nvSpPr>
        <p:spPr>
          <a:xfrm>
            <a:off x="548640" y="3200400"/>
            <a:ext cx="5669280" cy="384048"/>
          </a:xfrm>
          <a:prstGeom prst="rect">
            <a:avLst/>
          </a:prstGeom>
          <a:noFill/>
        </p:spPr>
        <p:txBody>
          <a:bodyPr wrap="square">
            <a:spAutoFit/>
          </a:bodyPr>
          <a:lstStyle/>
          <a:p>
            <a:pPr algn="l"/>
            <a:r>
              <a:rPr sz="1500" b="0" i="0">
                <a:solidFill>
                  <a:srgbClr val="000000"/>
                </a:solidFill>
              </a:rPr>
              <a:t>• Classes: 38 (26 disease + 12 healthy) + 1 custom 'not_a_leaf'</a:t>
            </a:r>
          </a:p>
        </p:txBody>
      </p:sp>
      <p:sp>
        <p:nvSpPr>
          <p:cNvPr id="9" name="TextBox 8"/>
          <p:cNvSpPr txBox="1"/>
          <p:nvPr/>
        </p:nvSpPr>
        <p:spPr>
          <a:xfrm>
            <a:off x="548640" y="3593592"/>
            <a:ext cx="5669280" cy="384048"/>
          </a:xfrm>
          <a:prstGeom prst="rect">
            <a:avLst/>
          </a:prstGeom>
          <a:noFill/>
        </p:spPr>
        <p:txBody>
          <a:bodyPr wrap="square">
            <a:spAutoFit/>
          </a:bodyPr>
          <a:lstStyle/>
          <a:p>
            <a:pPr algn="l"/>
            <a:r>
              <a:rPr sz="1500" b="0" i="0">
                <a:solidFill>
                  <a:srgbClr val="000000"/>
                </a:solidFill>
              </a:rPr>
              <a:t>• Format: RGB JPG, lab and field conditions</a:t>
            </a:r>
          </a:p>
        </p:txBody>
      </p:sp>
      <p:sp>
        <p:nvSpPr>
          <p:cNvPr id="10" name="TextBox 9"/>
          <p:cNvSpPr txBox="1"/>
          <p:nvPr/>
        </p:nvSpPr>
        <p:spPr>
          <a:xfrm>
            <a:off x="548640" y="3986784"/>
            <a:ext cx="5669280" cy="384048"/>
          </a:xfrm>
          <a:prstGeom prst="rect">
            <a:avLst/>
          </a:prstGeom>
          <a:noFill/>
        </p:spPr>
        <p:txBody>
          <a:bodyPr wrap="square">
            <a:spAutoFit/>
          </a:bodyPr>
          <a:lstStyle/>
          <a:p>
            <a:pPr algn="l"/>
            <a:r>
              <a:rPr sz="1500" b="0" i="0">
                <a:solidFill>
                  <a:srgbClr val="000000"/>
                </a:solidFill>
              </a:rPr>
              <a:t>• License: CC BY 4.0</a:t>
            </a:r>
          </a:p>
        </p:txBody>
      </p:sp>
      <p:sp>
        <p:nvSpPr>
          <p:cNvPr id="11" name="TextBox 10"/>
          <p:cNvSpPr txBox="1"/>
          <p:nvPr/>
        </p:nvSpPr>
        <p:spPr>
          <a:xfrm>
            <a:off x="6400800" y="1234440"/>
            <a:ext cx="5303520" cy="384048"/>
          </a:xfrm>
          <a:prstGeom prst="rect">
            <a:avLst/>
          </a:prstGeom>
          <a:noFill/>
        </p:spPr>
        <p:txBody>
          <a:bodyPr wrap="square">
            <a:spAutoFit/>
          </a:bodyPr>
          <a:lstStyle/>
          <a:p>
            <a:pPr algn="l"/>
            <a:r>
              <a:rPr sz="1500" b="0" i="0">
                <a:solidFill>
                  <a:srgbClr val="000000"/>
                </a:solidFill>
              </a:rPr>
              <a:t>Dataset Split:</a:t>
            </a:r>
          </a:p>
        </p:txBody>
      </p:sp>
      <p:sp>
        <p:nvSpPr>
          <p:cNvPr id="12" name="TextBox 11"/>
          <p:cNvSpPr txBox="1"/>
          <p:nvPr/>
        </p:nvSpPr>
        <p:spPr>
          <a:xfrm>
            <a:off x="6400800" y="1627632"/>
            <a:ext cx="5303520" cy="384048"/>
          </a:xfrm>
          <a:prstGeom prst="rect">
            <a:avLst/>
          </a:prstGeom>
          <a:noFill/>
        </p:spPr>
        <p:txBody>
          <a:bodyPr wrap="square">
            <a:spAutoFit/>
          </a:bodyPr>
          <a:lstStyle/>
          <a:p>
            <a:pPr algn="l"/>
            <a:r>
              <a:rPr sz="1500" b="0" i="0">
                <a:solidFill>
                  <a:srgbClr val="000000"/>
                </a:solidFill>
              </a:rPr>
              <a:t>  Train   : 70 %  →  ~38,000 images</a:t>
            </a:r>
          </a:p>
        </p:txBody>
      </p:sp>
      <p:sp>
        <p:nvSpPr>
          <p:cNvPr id="13" name="TextBox 12"/>
          <p:cNvSpPr txBox="1"/>
          <p:nvPr/>
        </p:nvSpPr>
        <p:spPr>
          <a:xfrm>
            <a:off x="6400800" y="2020824"/>
            <a:ext cx="5303520" cy="384048"/>
          </a:xfrm>
          <a:prstGeom prst="rect">
            <a:avLst/>
          </a:prstGeom>
          <a:noFill/>
        </p:spPr>
        <p:txBody>
          <a:bodyPr wrap="square">
            <a:spAutoFit/>
          </a:bodyPr>
          <a:lstStyle/>
          <a:p>
            <a:pPr algn="l"/>
            <a:r>
              <a:rPr sz="1500" b="0" i="0">
                <a:solidFill>
                  <a:srgbClr val="000000"/>
                </a:solidFill>
              </a:rPr>
              <a:t>  Validation: 15 %  →  ~8,300 images</a:t>
            </a:r>
          </a:p>
        </p:txBody>
      </p:sp>
      <p:sp>
        <p:nvSpPr>
          <p:cNvPr id="14" name="TextBox 13"/>
          <p:cNvSpPr txBox="1"/>
          <p:nvPr/>
        </p:nvSpPr>
        <p:spPr>
          <a:xfrm>
            <a:off x="6400800" y="2414016"/>
            <a:ext cx="5303520" cy="384048"/>
          </a:xfrm>
          <a:prstGeom prst="rect">
            <a:avLst/>
          </a:prstGeom>
          <a:noFill/>
        </p:spPr>
        <p:txBody>
          <a:bodyPr wrap="square">
            <a:spAutoFit/>
          </a:bodyPr>
          <a:lstStyle/>
          <a:p>
            <a:pPr algn="l"/>
            <a:r>
              <a:rPr sz="1500" b="0" i="0">
                <a:solidFill>
                  <a:srgbClr val="000000"/>
                </a:solidFill>
              </a:rPr>
              <a:t>  Test    : 15 %  →  ~8,300 images</a:t>
            </a:r>
          </a:p>
        </p:txBody>
      </p:sp>
      <p:sp>
        <p:nvSpPr>
          <p:cNvPr id="15" name="TextBox 14"/>
          <p:cNvSpPr txBox="1"/>
          <p:nvPr/>
        </p:nvSpPr>
        <p:spPr>
          <a:xfrm>
            <a:off x="6400800" y="2807208"/>
            <a:ext cx="5303520" cy="384048"/>
          </a:xfrm>
          <a:prstGeom prst="rect">
            <a:avLst/>
          </a:prstGeom>
          <a:noFill/>
        </p:spPr>
        <p:txBody>
          <a:bodyPr wrap="square">
            <a:spAutoFit/>
          </a:bodyPr>
          <a:lstStyle/>
          <a:p>
            <a:pPr algn="l"/>
            <a:r>
              <a:rPr sz="1500" b="0" i="0">
                <a:solidFill>
                  <a:srgbClr val="000000"/>
                </a:solidFill>
              </a:rPr>
              <a:t/>
            </a:r>
          </a:p>
        </p:txBody>
      </p:sp>
      <p:sp>
        <p:nvSpPr>
          <p:cNvPr id="16" name="TextBox 15"/>
          <p:cNvSpPr txBox="1"/>
          <p:nvPr/>
        </p:nvSpPr>
        <p:spPr>
          <a:xfrm>
            <a:off x="6400800" y="3200400"/>
            <a:ext cx="5303520" cy="384048"/>
          </a:xfrm>
          <a:prstGeom prst="rect">
            <a:avLst/>
          </a:prstGeom>
          <a:noFill/>
        </p:spPr>
        <p:txBody>
          <a:bodyPr wrap="square">
            <a:spAutoFit/>
          </a:bodyPr>
          <a:lstStyle/>
          <a:p>
            <a:pPr algn="l"/>
            <a:r>
              <a:rPr sz="1500" b="0" i="0">
                <a:solidFill>
                  <a:srgbClr val="000000"/>
                </a:solidFill>
              </a:rPr>
              <a:t>Limitations:</a:t>
            </a:r>
          </a:p>
        </p:txBody>
      </p:sp>
      <p:sp>
        <p:nvSpPr>
          <p:cNvPr id="17" name="TextBox 16"/>
          <p:cNvSpPr txBox="1"/>
          <p:nvPr/>
        </p:nvSpPr>
        <p:spPr>
          <a:xfrm>
            <a:off x="6400800" y="3593592"/>
            <a:ext cx="5303520" cy="384048"/>
          </a:xfrm>
          <a:prstGeom prst="rect">
            <a:avLst/>
          </a:prstGeom>
          <a:noFill/>
        </p:spPr>
        <p:txBody>
          <a:bodyPr wrap="square">
            <a:spAutoFit/>
          </a:bodyPr>
          <a:lstStyle/>
          <a:p>
            <a:pPr algn="l"/>
            <a:r>
              <a:rPr sz="1500" b="0" i="0">
                <a:solidFill>
                  <a:srgbClr val="000000"/>
                </a:solidFill>
              </a:rPr>
              <a:t>  – Controlled background (lab conditions)</a:t>
            </a:r>
          </a:p>
        </p:txBody>
      </p:sp>
      <p:sp>
        <p:nvSpPr>
          <p:cNvPr id="18" name="TextBox 17"/>
          <p:cNvSpPr txBox="1"/>
          <p:nvPr/>
        </p:nvSpPr>
        <p:spPr>
          <a:xfrm>
            <a:off x="6400800" y="3986784"/>
            <a:ext cx="5303520" cy="384048"/>
          </a:xfrm>
          <a:prstGeom prst="rect">
            <a:avLst/>
          </a:prstGeom>
          <a:noFill/>
        </p:spPr>
        <p:txBody>
          <a:bodyPr wrap="square">
            <a:spAutoFit/>
          </a:bodyPr>
          <a:lstStyle/>
          <a:p>
            <a:pPr algn="l"/>
            <a:r>
              <a:rPr sz="1500" b="0" i="0">
                <a:solidFill>
                  <a:srgbClr val="000000"/>
                </a:solidFill>
              </a:rPr>
              <a:t>  – Missing crops: Mango, Rice, Wheat</a:t>
            </a:r>
          </a:p>
        </p:txBody>
      </p:sp>
      <p:sp>
        <p:nvSpPr>
          <p:cNvPr id="19" name="TextBox 18"/>
          <p:cNvSpPr txBox="1"/>
          <p:nvPr/>
        </p:nvSpPr>
        <p:spPr>
          <a:xfrm>
            <a:off x="6400800" y="4379976"/>
            <a:ext cx="5303520" cy="384048"/>
          </a:xfrm>
          <a:prstGeom prst="rect">
            <a:avLst/>
          </a:prstGeom>
          <a:noFill/>
        </p:spPr>
        <p:txBody>
          <a:bodyPr wrap="square">
            <a:spAutoFit/>
          </a:bodyPr>
          <a:lstStyle/>
          <a:p>
            <a:pPr algn="l"/>
            <a:r>
              <a:rPr sz="1500" b="0" i="0">
                <a:solidFill>
                  <a:srgbClr val="000000"/>
                </a:solidFill>
              </a:rPr>
              <a:t>  – Plain backgrounds differ from real farms</a:t>
            </a:r>
          </a:p>
        </p:txBody>
      </p:sp>
      <p:sp>
        <p:nvSpPr>
          <p:cNvPr id="20" name="Rectangle 19"/>
          <p:cNvSpPr/>
          <p:nvPr/>
        </p:nvSpPr>
        <p:spPr>
          <a:xfrm>
            <a:off x="6126480" y="1188720"/>
            <a:ext cx="27432" cy="53035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MODEL COMPARISON</a:t>
            </a:r>
          </a:p>
        </p:txBody>
      </p:sp>
      <p:sp>
        <p:nvSpPr>
          <p:cNvPr id="3" name="TextBox 2"/>
          <p:cNvSpPr txBox="1"/>
          <p:nvPr/>
        </p:nvSpPr>
        <p:spPr>
          <a:xfrm>
            <a:off x="548640" y="1188720"/>
            <a:ext cx="10972800" cy="365760"/>
          </a:xfrm>
          <a:prstGeom prst="rect">
            <a:avLst/>
          </a:prstGeom>
          <a:noFill/>
        </p:spPr>
        <p:txBody>
          <a:bodyPr wrap="square">
            <a:spAutoFit/>
          </a:bodyPr>
          <a:lstStyle/>
          <a:p>
            <a:pPr algn="l"/>
            <a:r>
              <a:rPr sz="1600" b="1" i="0">
                <a:solidFill>
                  <a:srgbClr val="000000"/>
                </a:solidFill>
              </a:rPr>
              <a:t>Comparison of CNN architectures on ImageNet benchmark:</a:t>
            </a:r>
          </a:p>
        </p:txBody>
      </p:sp>
      <p:sp>
        <p:nvSpPr>
          <p:cNvPr id="4" name="Rectangle 3"/>
          <p:cNvSpPr/>
          <p:nvPr/>
        </p:nvSpPr>
        <p:spPr>
          <a:xfrm>
            <a:off x="548640" y="1691640"/>
            <a:ext cx="269748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Model</a:t>
            </a:r>
          </a:p>
        </p:txBody>
      </p:sp>
      <p:sp>
        <p:nvSpPr>
          <p:cNvPr id="5" name="Rectangle 4"/>
          <p:cNvSpPr/>
          <p:nvPr/>
        </p:nvSpPr>
        <p:spPr>
          <a:xfrm>
            <a:off x="3291840" y="1691640"/>
            <a:ext cx="288036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Accuracy (ImageNet)</a:t>
            </a:r>
          </a:p>
        </p:txBody>
      </p:sp>
      <p:sp>
        <p:nvSpPr>
          <p:cNvPr id="6" name="Rectangle 5"/>
          <p:cNvSpPr/>
          <p:nvPr/>
        </p:nvSpPr>
        <p:spPr>
          <a:xfrm>
            <a:off x="6217920" y="1691640"/>
            <a:ext cx="251460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Parameters</a:t>
            </a:r>
          </a:p>
        </p:txBody>
      </p:sp>
      <p:sp>
        <p:nvSpPr>
          <p:cNvPr id="7" name="Rectangle 6"/>
          <p:cNvSpPr/>
          <p:nvPr/>
        </p:nvSpPr>
        <p:spPr>
          <a:xfrm>
            <a:off x="8778240" y="1691640"/>
            <a:ext cx="251460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Speed</a:t>
            </a:r>
          </a:p>
        </p:txBody>
      </p:sp>
      <p:sp>
        <p:nvSpPr>
          <p:cNvPr id="8" name="Rectangle 7"/>
          <p:cNvSpPr/>
          <p:nvPr/>
        </p:nvSpPr>
        <p:spPr>
          <a:xfrm>
            <a:off x="548640" y="2103120"/>
            <a:ext cx="26974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MobileNetV2</a:t>
            </a:r>
          </a:p>
        </p:txBody>
      </p:sp>
      <p:sp>
        <p:nvSpPr>
          <p:cNvPr id="9" name="Rectangle 8"/>
          <p:cNvSpPr/>
          <p:nvPr/>
        </p:nvSpPr>
        <p:spPr>
          <a:xfrm>
            <a:off x="3291840" y="2103120"/>
            <a:ext cx="28803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72.0 %</a:t>
            </a:r>
          </a:p>
        </p:txBody>
      </p:sp>
      <p:sp>
        <p:nvSpPr>
          <p:cNvPr id="10" name="Rectangle 9"/>
          <p:cNvSpPr/>
          <p:nvPr/>
        </p:nvSpPr>
        <p:spPr>
          <a:xfrm>
            <a:off x="6217920" y="2103120"/>
            <a:ext cx="251460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3.4 M</a:t>
            </a:r>
          </a:p>
        </p:txBody>
      </p:sp>
      <p:sp>
        <p:nvSpPr>
          <p:cNvPr id="11" name="Rectangle 10"/>
          <p:cNvSpPr/>
          <p:nvPr/>
        </p:nvSpPr>
        <p:spPr>
          <a:xfrm>
            <a:off x="8778240" y="2103120"/>
            <a:ext cx="251460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Very Fast</a:t>
            </a:r>
          </a:p>
        </p:txBody>
      </p:sp>
      <p:sp>
        <p:nvSpPr>
          <p:cNvPr id="12" name="Rectangle 11"/>
          <p:cNvSpPr/>
          <p:nvPr/>
        </p:nvSpPr>
        <p:spPr>
          <a:xfrm>
            <a:off x="548640" y="2560320"/>
            <a:ext cx="26974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ResNet50</a:t>
            </a:r>
          </a:p>
        </p:txBody>
      </p:sp>
      <p:sp>
        <p:nvSpPr>
          <p:cNvPr id="13" name="Rectangle 12"/>
          <p:cNvSpPr/>
          <p:nvPr/>
        </p:nvSpPr>
        <p:spPr>
          <a:xfrm>
            <a:off x="3291840" y="2560320"/>
            <a:ext cx="288036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76.1 %</a:t>
            </a:r>
          </a:p>
        </p:txBody>
      </p:sp>
      <p:sp>
        <p:nvSpPr>
          <p:cNvPr id="14" name="Rectangle 13"/>
          <p:cNvSpPr/>
          <p:nvPr/>
        </p:nvSpPr>
        <p:spPr>
          <a:xfrm>
            <a:off x="6217920" y="2560320"/>
            <a:ext cx="251460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25 M</a:t>
            </a:r>
          </a:p>
        </p:txBody>
      </p:sp>
      <p:sp>
        <p:nvSpPr>
          <p:cNvPr id="15" name="Rectangle 14"/>
          <p:cNvSpPr/>
          <p:nvPr/>
        </p:nvSpPr>
        <p:spPr>
          <a:xfrm>
            <a:off x="8778240" y="2560320"/>
            <a:ext cx="251460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Medium</a:t>
            </a:r>
          </a:p>
        </p:txBody>
      </p:sp>
      <p:sp>
        <p:nvSpPr>
          <p:cNvPr id="16" name="Rectangle 15"/>
          <p:cNvSpPr/>
          <p:nvPr/>
        </p:nvSpPr>
        <p:spPr>
          <a:xfrm>
            <a:off x="548640" y="3017520"/>
            <a:ext cx="26974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VGG16</a:t>
            </a:r>
          </a:p>
        </p:txBody>
      </p:sp>
      <p:sp>
        <p:nvSpPr>
          <p:cNvPr id="17" name="Rectangle 16"/>
          <p:cNvSpPr/>
          <p:nvPr/>
        </p:nvSpPr>
        <p:spPr>
          <a:xfrm>
            <a:off x="3291840" y="3017520"/>
            <a:ext cx="28803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71.0 %</a:t>
            </a:r>
          </a:p>
        </p:txBody>
      </p:sp>
      <p:sp>
        <p:nvSpPr>
          <p:cNvPr id="18" name="Rectangle 17"/>
          <p:cNvSpPr/>
          <p:nvPr/>
        </p:nvSpPr>
        <p:spPr>
          <a:xfrm>
            <a:off x="6217920" y="3017520"/>
            <a:ext cx="251460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138 M</a:t>
            </a:r>
          </a:p>
        </p:txBody>
      </p:sp>
      <p:sp>
        <p:nvSpPr>
          <p:cNvPr id="19" name="Rectangle 18"/>
          <p:cNvSpPr/>
          <p:nvPr/>
        </p:nvSpPr>
        <p:spPr>
          <a:xfrm>
            <a:off x="8778240" y="3017520"/>
            <a:ext cx="251460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Slow</a:t>
            </a:r>
          </a:p>
        </p:txBody>
      </p:sp>
      <p:sp>
        <p:nvSpPr>
          <p:cNvPr id="20" name="Rectangle 19"/>
          <p:cNvSpPr/>
          <p:nvPr/>
        </p:nvSpPr>
        <p:spPr>
          <a:xfrm>
            <a:off x="548640" y="3474720"/>
            <a:ext cx="2697480" cy="41148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EfficientNetB3</a:t>
            </a:r>
          </a:p>
        </p:txBody>
      </p:sp>
      <p:sp>
        <p:nvSpPr>
          <p:cNvPr id="21" name="Rectangle 20"/>
          <p:cNvSpPr/>
          <p:nvPr/>
        </p:nvSpPr>
        <p:spPr>
          <a:xfrm>
            <a:off x="3291840" y="3474720"/>
            <a:ext cx="2880360" cy="41148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81.6 %</a:t>
            </a:r>
          </a:p>
        </p:txBody>
      </p:sp>
      <p:sp>
        <p:nvSpPr>
          <p:cNvPr id="22" name="Rectangle 21"/>
          <p:cNvSpPr/>
          <p:nvPr/>
        </p:nvSpPr>
        <p:spPr>
          <a:xfrm>
            <a:off x="6217920" y="3474720"/>
            <a:ext cx="2514600" cy="41148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12 M</a:t>
            </a:r>
          </a:p>
        </p:txBody>
      </p:sp>
      <p:sp>
        <p:nvSpPr>
          <p:cNvPr id="23" name="Rectangle 22"/>
          <p:cNvSpPr/>
          <p:nvPr/>
        </p:nvSpPr>
        <p:spPr>
          <a:xfrm>
            <a:off x="8778240" y="3474720"/>
            <a:ext cx="2514600" cy="41148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00000"/>
                </a:solidFill>
              </a:rPr>
              <a:t>Medium</a:t>
            </a:r>
          </a:p>
        </p:txBody>
      </p:sp>
      <p:sp>
        <p:nvSpPr>
          <p:cNvPr id="24" name="Rectangle 23"/>
          <p:cNvSpPr/>
          <p:nvPr/>
        </p:nvSpPr>
        <p:spPr>
          <a:xfrm>
            <a:off x="548640" y="3931920"/>
            <a:ext cx="26974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EfficientNetB7</a:t>
            </a:r>
          </a:p>
        </p:txBody>
      </p:sp>
      <p:sp>
        <p:nvSpPr>
          <p:cNvPr id="25" name="Rectangle 24"/>
          <p:cNvSpPr/>
          <p:nvPr/>
        </p:nvSpPr>
        <p:spPr>
          <a:xfrm>
            <a:off x="3291840" y="3931920"/>
            <a:ext cx="28803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84.3 %</a:t>
            </a:r>
          </a:p>
        </p:txBody>
      </p:sp>
      <p:sp>
        <p:nvSpPr>
          <p:cNvPr id="26" name="Rectangle 25"/>
          <p:cNvSpPr/>
          <p:nvPr/>
        </p:nvSpPr>
        <p:spPr>
          <a:xfrm>
            <a:off x="6217920" y="3931920"/>
            <a:ext cx="251460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66 M</a:t>
            </a:r>
          </a:p>
        </p:txBody>
      </p:sp>
      <p:sp>
        <p:nvSpPr>
          <p:cNvPr id="27" name="Rectangle 26"/>
          <p:cNvSpPr/>
          <p:nvPr/>
        </p:nvSpPr>
        <p:spPr>
          <a:xfrm>
            <a:off x="8778240" y="3931920"/>
            <a:ext cx="251460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000000"/>
                </a:solidFill>
              </a:rPr>
              <a:t>Slow</a:t>
            </a:r>
          </a:p>
        </p:txBody>
      </p:sp>
      <p:sp>
        <p:nvSpPr>
          <p:cNvPr id="28" name="TextBox 27"/>
          <p:cNvSpPr txBox="1"/>
          <p:nvPr/>
        </p:nvSpPr>
        <p:spPr>
          <a:xfrm>
            <a:off x="548640" y="4526280"/>
            <a:ext cx="10972800" cy="457200"/>
          </a:xfrm>
          <a:prstGeom prst="rect">
            <a:avLst/>
          </a:prstGeom>
          <a:noFill/>
        </p:spPr>
        <p:txBody>
          <a:bodyPr wrap="square">
            <a:spAutoFit/>
          </a:bodyPr>
          <a:lstStyle/>
          <a:p>
            <a:pPr algn="l"/>
            <a:r>
              <a:rPr sz="1400" b="1" i="0">
                <a:solidFill>
                  <a:srgbClr val="000000"/>
                </a:solidFill>
              </a:rPr>
              <a:t>★  EfficientNetB3 is the sweet spot — highest accuracy/parameter ratio, medium speed, suitable for GPU &amp; CPU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MODEL ARCHITECTURE — EfficientNetB3</a:t>
            </a:r>
          </a:p>
        </p:txBody>
      </p:sp>
      <p:sp>
        <p:nvSpPr>
          <p:cNvPr id="3" name="Rectangle 2"/>
          <p:cNvSpPr/>
          <p:nvPr/>
        </p:nvSpPr>
        <p:spPr>
          <a:xfrm>
            <a:off x="3579876" y="1143000"/>
            <a:ext cx="5029200" cy="566928"/>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Input Image
300 × 300 × 3</a:t>
            </a:r>
          </a:p>
        </p:txBody>
      </p:sp>
      <p:cxnSp>
        <p:nvCxnSpPr>
          <p:cNvPr id="4" name="Connector 3"/>
          <p:cNvCxnSpPr/>
          <p:nvPr/>
        </p:nvCxnSpPr>
        <p:spPr>
          <a:xfrm>
            <a:off x="6085332.0" y="1709928"/>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3579876" y="1911096"/>
            <a:ext cx="5029200" cy="566928"/>
          </a:xfrm>
          <a:prstGeom prst="rect">
            <a:avLst/>
          </a:prstGeom>
          <a:solidFill>
            <a:srgbClr val="C6EFC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Stem Conv 3×3, stride 2
→ 150 × 150 × 40</a:t>
            </a:r>
          </a:p>
        </p:txBody>
      </p:sp>
      <p:cxnSp>
        <p:nvCxnSpPr>
          <p:cNvPr id="6" name="Connector 5"/>
          <p:cNvCxnSpPr/>
          <p:nvPr/>
        </p:nvCxnSpPr>
        <p:spPr>
          <a:xfrm>
            <a:off x="6085332.0" y="2478024"/>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579876" y="2679192"/>
            <a:ext cx="5029200" cy="566928"/>
          </a:xfrm>
          <a:prstGeom prst="rect">
            <a:avLst/>
          </a:prstGeom>
          <a:solidFill>
            <a:srgbClr val="C6EFC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MBConv Blocks (7 stages)
Depthwise Sep. Conv + Squeeze-Excitation</a:t>
            </a:r>
          </a:p>
        </p:txBody>
      </p:sp>
      <p:cxnSp>
        <p:nvCxnSpPr>
          <p:cNvPr id="8" name="Connector 7"/>
          <p:cNvCxnSpPr/>
          <p:nvPr/>
        </p:nvCxnSpPr>
        <p:spPr>
          <a:xfrm>
            <a:off x="6085332.0" y="3246120"/>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579876" y="3447288"/>
            <a:ext cx="5029200" cy="566928"/>
          </a:xfrm>
          <a:prstGeom prst="rect">
            <a:avLst/>
          </a:prstGeom>
          <a:solidFill>
            <a:srgbClr val="C6EFC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Head Conv 1×1
→ 1536 feature maps</a:t>
            </a:r>
          </a:p>
        </p:txBody>
      </p:sp>
      <p:cxnSp>
        <p:nvCxnSpPr>
          <p:cNvPr id="10" name="Connector 9"/>
          <p:cNvCxnSpPr/>
          <p:nvPr/>
        </p:nvCxnSpPr>
        <p:spPr>
          <a:xfrm>
            <a:off x="6085332.0" y="4014216"/>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579876" y="4215384"/>
            <a:ext cx="5029200" cy="566928"/>
          </a:xfrm>
          <a:prstGeom prst="rect">
            <a:avLst/>
          </a:prstGeom>
          <a:solidFill>
            <a:srgbClr val="C6EFC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Global Average Pooling
→ 1536-dim vector</a:t>
            </a:r>
          </a:p>
        </p:txBody>
      </p:sp>
      <p:cxnSp>
        <p:nvCxnSpPr>
          <p:cNvPr id="12" name="Connector 11"/>
          <p:cNvCxnSpPr/>
          <p:nvPr/>
        </p:nvCxnSpPr>
        <p:spPr>
          <a:xfrm>
            <a:off x="6085332.0" y="4782312"/>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579876" y="4983480"/>
            <a:ext cx="5029200" cy="566928"/>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Custom Classification Head
BN → Linear(1536→512)+GELU+Dropout(0.4)
BN → Linear(512→256)+GELU+Dropout(0.3)</a:t>
            </a:r>
          </a:p>
        </p:txBody>
      </p:sp>
      <p:cxnSp>
        <p:nvCxnSpPr>
          <p:cNvPr id="14" name="Connector 13"/>
          <p:cNvCxnSpPr/>
          <p:nvPr/>
        </p:nvCxnSpPr>
        <p:spPr>
          <a:xfrm>
            <a:off x="6085332.0" y="5550408"/>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579876" y="5751576"/>
            <a:ext cx="5029200" cy="566928"/>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000000"/>
                </a:solidFill>
              </a:rPr>
              <a:t>Output Layer
Linear(256→39)  →  Softmax
→ 39 class probabilities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DATA PREPROCESSING &amp; AUGMENTATION</a:t>
            </a:r>
          </a:p>
        </p:txBody>
      </p:sp>
      <p:sp>
        <p:nvSpPr>
          <p:cNvPr id="3" name="TextBox 2"/>
          <p:cNvSpPr txBox="1"/>
          <p:nvPr/>
        </p:nvSpPr>
        <p:spPr>
          <a:xfrm>
            <a:off x="548640" y="1188720"/>
            <a:ext cx="5303520" cy="365760"/>
          </a:xfrm>
          <a:prstGeom prst="rect">
            <a:avLst/>
          </a:prstGeom>
          <a:noFill/>
        </p:spPr>
        <p:txBody>
          <a:bodyPr wrap="square">
            <a:spAutoFit/>
          </a:bodyPr>
          <a:lstStyle/>
          <a:p>
            <a:pPr algn="l"/>
            <a:r>
              <a:rPr sz="1700" b="1" i="0">
                <a:solidFill>
                  <a:srgbClr val="000000"/>
                </a:solidFill>
              </a:rPr>
              <a:t>Preprocessing Steps</a:t>
            </a:r>
          </a:p>
        </p:txBody>
      </p:sp>
      <p:sp>
        <p:nvSpPr>
          <p:cNvPr id="4" name="TextBox 3"/>
          <p:cNvSpPr txBox="1"/>
          <p:nvPr/>
        </p:nvSpPr>
        <p:spPr>
          <a:xfrm>
            <a:off x="6309360" y="1188720"/>
            <a:ext cx="5303520" cy="365760"/>
          </a:xfrm>
          <a:prstGeom prst="rect">
            <a:avLst/>
          </a:prstGeom>
          <a:noFill/>
        </p:spPr>
        <p:txBody>
          <a:bodyPr wrap="square">
            <a:spAutoFit/>
          </a:bodyPr>
          <a:lstStyle/>
          <a:p>
            <a:pPr algn="l"/>
            <a:r>
              <a:rPr sz="1700" b="1" i="0">
                <a:solidFill>
                  <a:srgbClr val="000000"/>
                </a:solidFill>
              </a:rPr>
              <a:t>Augmentation Techniques</a:t>
            </a:r>
          </a:p>
        </p:txBody>
      </p:sp>
      <p:sp>
        <p:nvSpPr>
          <p:cNvPr id="5" name="TextBox 4"/>
          <p:cNvSpPr txBox="1"/>
          <p:nvPr/>
        </p:nvSpPr>
        <p:spPr>
          <a:xfrm>
            <a:off x="548640" y="1645920"/>
            <a:ext cx="5303520" cy="384048"/>
          </a:xfrm>
          <a:prstGeom prst="rect">
            <a:avLst/>
          </a:prstGeom>
          <a:noFill/>
        </p:spPr>
        <p:txBody>
          <a:bodyPr wrap="square">
            <a:spAutoFit/>
          </a:bodyPr>
          <a:lstStyle/>
          <a:p>
            <a:pPr algn="l"/>
            <a:r>
              <a:rPr sz="1500" b="0" i="0">
                <a:solidFill>
                  <a:srgbClr val="000000"/>
                </a:solidFill>
              </a:rPr>
              <a:t>• Resize all images to 300 × 300 pixels</a:t>
            </a:r>
          </a:p>
        </p:txBody>
      </p:sp>
      <p:sp>
        <p:nvSpPr>
          <p:cNvPr id="6" name="TextBox 5"/>
          <p:cNvSpPr txBox="1"/>
          <p:nvPr/>
        </p:nvSpPr>
        <p:spPr>
          <a:xfrm>
            <a:off x="548640" y="2039112"/>
            <a:ext cx="5303520" cy="384048"/>
          </a:xfrm>
          <a:prstGeom prst="rect">
            <a:avLst/>
          </a:prstGeom>
          <a:noFill/>
        </p:spPr>
        <p:txBody>
          <a:bodyPr wrap="square">
            <a:spAutoFit/>
          </a:bodyPr>
          <a:lstStyle/>
          <a:p>
            <a:pPr algn="l"/>
            <a:r>
              <a:rPr sz="1500" b="0" i="0">
                <a:solidFill>
                  <a:srgbClr val="000000"/>
                </a:solidFill>
              </a:rPr>
              <a:t>• Normalise with ImageNet mean/std</a:t>
            </a:r>
          </a:p>
        </p:txBody>
      </p:sp>
      <p:sp>
        <p:nvSpPr>
          <p:cNvPr id="7" name="TextBox 6"/>
          <p:cNvSpPr txBox="1"/>
          <p:nvPr/>
        </p:nvSpPr>
        <p:spPr>
          <a:xfrm>
            <a:off x="548640" y="2432304"/>
            <a:ext cx="5303520" cy="384048"/>
          </a:xfrm>
          <a:prstGeom prst="rect">
            <a:avLst/>
          </a:prstGeom>
          <a:noFill/>
        </p:spPr>
        <p:txBody>
          <a:bodyPr wrap="square">
            <a:spAutoFit/>
          </a:bodyPr>
          <a:lstStyle/>
          <a:p>
            <a:pPr algn="l"/>
            <a:r>
              <a:rPr sz="1500" b="0" i="0">
                <a:solidFill>
                  <a:srgbClr val="000000"/>
                </a:solidFill>
              </a:rPr>
              <a:t>  mean=[0.485, 0.456, 0.406]</a:t>
            </a:r>
          </a:p>
        </p:txBody>
      </p:sp>
      <p:sp>
        <p:nvSpPr>
          <p:cNvPr id="8" name="TextBox 7"/>
          <p:cNvSpPr txBox="1"/>
          <p:nvPr/>
        </p:nvSpPr>
        <p:spPr>
          <a:xfrm>
            <a:off x="548640" y="2825496"/>
            <a:ext cx="5303520" cy="384048"/>
          </a:xfrm>
          <a:prstGeom prst="rect">
            <a:avLst/>
          </a:prstGeom>
          <a:noFill/>
        </p:spPr>
        <p:txBody>
          <a:bodyPr wrap="square">
            <a:spAutoFit/>
          </a:bodyPr>
          <a:lstStyle/>
          <a:p>
            <a:pPr algn="l"/>
            <a:r>
              <a:rPr sz="1500" b="0" i="0">
                <a:solidFill>
                  <a:srgbClr val="000000"/>
                </a:solidFill>
              </a:rPr>
              <a:t>  std=[0.229, 0.224, 0.225]</a:t>
            </a:r>
          </a:p>
        </p:txBody>
      </p:sp>
      <p:sp>
        <p:nvSpPr>
          <p:cNvPr id="9" name="TextBox 8"/>
          <p:cNvSpPr txBox="1"/>
          <p:nvPr/>
        </p:nvSpPr>
        <p:spPr>
          <a:xfrm>
            <a:off x="548640" y="3218688"/>
            <a:ext cx="5303520" cy="384048"/>
          </a:xfrm>
          <a:prstGeom prst="rect">
            <a:avLst/>
          </a:prstGeom>
          <a:noFill/>
        </p:spPr>
        <p:txBody>
          <a:bodyPr wrap="square">
            <a:spAutoFit/>
          </a:bodyPr>
          <a:lstStyle/>
          <a:p>
            <a:pPr algn="l"/>
            <a:r>
              <a:rPr sz="1500" b="0" i="0">
                <a:solidFill>
                  <a:srgbClr val="000000"/>
                </a:solidFill>
              </a:rPr>
              <a:t>• Convert to PyTorch tensor</a:t>
            </a:r>
          </a:p>
        </p:txBody>
      </p:sp>
      <p:sp>
        <p:nvSpPr>
          <p:cNvPr id="10" name="TextBox 9"/>
          <p:cNvSpPr txBox="1"/>
          <p:nvPr/>
        </p:nvSpPr>
        <p:spPr>
          <a:xfrm>
            <a:off x="6309360" y="1645920"/>
            <a:ext cx="5303520" cy="384048"/>
          </a:xfrm>
          <a:prstGeom prst="rect">
            <a:avLst/>
          </a:prstGeom>
          <a:noFill/>
        </p:spPr>
        <p:txBody>
          <a:bodyPr wrap="square">
            <a:spAutoFit/>
          </a:bodyPr>
          <a:lstStyle/>
          <a:p>
            <a:pPr algn="l"/>
            <a:r>
              <a:rPr sz="1500" b="0" i="0">
                <a:solidFill>
                  <a:srgbClr val="000000"/>
                </a:solidFill>
              </a:rPr>
              <a:t>• RandomCrop(300) after Resize(332)</a:t>
            </a:r>
          </a:p>
        </p:txBody>
      </p:sp>
      <p:sp>
        <p:nvSpPr>
          <p:cNvPr id="11" name="TextBox 10"/>
          <p:cNvSpPr txBox="1"/>
          <p:nvPr/>
        </p:nvSpPr>
        <p:spPr>
          <a:xfrm>
            <a:off x="6309360" y="2039112"/>
            <a:ext cx="5303520" cy="384048"/>
          </a:xfrm>
          <a:prstGeom prst="rect">
            <a:avLst/>
          </a:prstGeom>
          <a:noFill/>
        </p:spPr>
        <p:txBody>
          <a:bodyPr wrap="square">
            <a:spAutoFit/>
          </a:bodyPr>
          <a:lstStyle/>
          <a:p>
            <a:pPr algn="l"/>
            <a:r>
              <a:rPr sz="1500" b="0" i="0">
                <a:solidFill>
                  <a:srgbClr val="000000"/>
                </a:solidFill>
              </a:rPr>
              <a:t>• RandomHorizontalFlip</a:t>
            </a:r>
          </a:p>
        </p:txBody>
      </p:sp>
      <p:sp>
        <p:nvSpPr>
          <p:cNvPr id="12" name="TextBox 11"/>
          <p:cNvSpPr txBox="1"/>
          <p:nvPr/>
        </p:nvSpPr>
        <p:spPr>
          <a:xfrm>
            <a:off x="6309360" y="2432304"/>
            <a:ext cx="5303520" cy="384048"/>
          </a:xfrm>
          <a:prstGeom prst="rect">
            <a:avLst/>
          </a:prstGeom>
          <a:noFill/>
        </p:spPr>
        <p:txBody>
          <a:bodyPr wrap="square">
            <a:spAutoFit/>
          </a:bodyPr>
          <a:lstStyle/>
          <a:p>
            <a:pPr algn="l"/>
            <a:r>
              <a:rPr sz="1500" b="0" i="0">
                <a:solidFill>
                  <a:srgbClr val="000000"/>
                </a:solidFill>
              </a:rPr>
              <a:t>• RandomVerticalFlip</a:t>
            </a:r>
          </a:p>
        </p:txBody>
      </p:sp>
      <p:sp>
        <p:nvSpPr>
          <p:cNvPr id="13" name="TextBox 12"/>
          <p:cNvSpPr txBox="1"/>
          <p:nvPr/>
        </p:nvSpPr>
        <p:spPr>
          <a:xfrm>
            <a:off x="6309360" y="2825496"/>
            <a:ext cx="5303520" cy="384048"/>
          </a:xfrm>
          <a:prstGeom prst="rect">
            <a:avLst/>
          </a:prstGeom>
          <a:noFill/>
        </p:spPr>
        <p:txBody>
          <a:bodyPr wrap="square">
            <a:spAutoFit/>
          </a:bodyPr>
          <a:lstStyle/>
          <a:p>
            <a:pPr algn="l"/>
            <a:r>
              <a:rPr sz="1500" b="0" i="0">
                <a:solidFill>
                  <a:srgbClr val="000000"/>
                </a:solidFill>
              </a:rPr>
              <a:t>• ColorJitter (brightness, contrast, saturation)</a:t>
            </a:r>
          </a:p>
        </p:txBody>
      </p:sp>
      <p:sp>
        <p:nvSpPr>
          <p:cNvPr id="14" name="TextBox 13"/>
          <p:cNvSpPr txBox="1"/>
          <p:nvPr/>
        </p:nvSpPr>
        <p:spPr>
          <a:xfrm>
            <a:off x="6309360" y="3218688"/>
            <a:ext cx="5303520" cy="384048"/>
          </a:xfrm>
          <a:prstGeom prst="rect">
            <a:avLst/>
          </a:prstGeom>
          <a:noFill/>
        </p:spPr>
        <p:txBody>
          <a:bodyPr wrap="square">
            <a:spAutoFit/>
          </a:bodyPr>
          <a:lstStyle/>
          <a:p>
            <a:pPr algn="l"/>
            <a:r>
              <a:rPr sz="1500" b="0" i="0">
                <a:solidFill>
                  <a:srgbClr val="000000"/>
                </a:solidFill>
              </a:rPr>
              <a:t>• RandomPerspective(0.2)</a:t>
            </a:r>
          </a:p>
        </p:txBody>
      </p:sp>
      <p:sp>
        <p:nvSpPr>
          <p:cNvPr id="15" name="TextBox 14"/>
          <p:cNvSpPr txBox="1"/>
          <p:nvPr/>
        </p:nvSpPr>
        <p:spPr>
          <a:xfrm>
            <a:off x="6309360" y="3611880"/>
            <a:ext cx="5303520" cy="384048"/>
          </a:xfrm>
          <a:prstGeom prst="rect">
            <a:avLst/>
          </a:prstGeom>
          <a:noFill/>
        </p:spPr>
        <p:txBody>
          <a:bodyPr wrap="square">
            <a:spAutoFit/>
          </a:bodyPr>
          <a:lstStyle/>
          <a:p>
            <a:pPr algn="l"/>
            <a:r>
              <a:rPr sz="1500" b="0" i="0">
                <a:solidFill>
                  <a:srgbClr val="000000"/>
                </a:solidFill>
              </a:rPr>
              <a:t>• GaussianBlur — simulate low-quality cameras</a:t>
            </a:r>
          </a:p>
        </p:txBody>
      </p:sp>
      <p:sp>
        <p:nvSpPr>
          <p:cNvPr id="16" name="TextBox 15"/>
          <p:cNvSpPr txBox="1"/>
          <p:nvPr/>
        </p:nvSpPr>
        <p:spPr>
          <a:xfrm>
            <a:off x="6309360" y="4005072"/>
            <a:ext cx="5303520" cy="384048"/>
          </a:xfrm>
          <a:prstGeom prst="rect">
            <a:avLst/>
          </a:prstGeom>
          <a:noFill/>
        </p:spPr>
        <p:txBody>
          <a:bodyPr wrap="square">
            <a:spAutoFit/>
          </a:bodyPr>
          <a:lstStyle/>
          <a:p>
            <a:pPr algn="l"/>
            <a:r>
              <a:rPr sz="1500" b="0" i="0">
                <a:solidFill>
                  <a:srgbClr val="000000"/>
                </a:solidFill>
              </a:rPr>
              <a:t>• RandomErasing(0.2) — Cutout regularisation</a:t>
            </a:r>
          </a:p>
        </p:txBody>
      </p:sp>
      <p:sp>
        <p:nvSpPr>
          <p:cNvPr id="17" name="TextBox 16"/>
          <p:cNvSpPr txBox="1"/>
          <p:nvPr/>
        </p:nvSpPr>
        <p:spPr>
          <a:xfrm>
            <a:off x="6309360" y="4398264"/>
            <a:ext cx="5303520" cy="384048"/>
          </a:xfrm>
          <a:prstGeom prst="rect">
            <a:avLst/>
          </a:prstGeom>
          <a:noFill/>
        </p:spPr>
        <p:txBody>
          <a:bodyPr wrap="square">
            <a:spAutoFit/>
          </a:bodyPr>
          <a:lstStyle/>
          <a:p>
            <a:pPr algn="l"/>
            <a:r>
              <a:rPr sz="1500" b="0" i="0">
                <a:solidFill>
                  <a:srgbClr val="000000"/>
                </a:solidFill>
              </a:rPr>
              <a:t>• RandomAffine — translate ±10 %</a:t>
            </a:r>
          </a:p>
        </p:txBody>
      </p:sp>
      <p:sp>
        <p:nvSpPr>
          <p:cNvPr id="18" name="Rectangle 17"/>
          <p:cNvSpPr/>
          <p:nvPr/>
        </p:nvSpPr>
        <p:spPr>
          <a:xfrm>
            <a:off x="6035040" y="1143000"/>
            <a:ext cx="27432" cy="53035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CLASS BALANCING &amp; LOSS FUNCTION</a:t>
            </a:r>
          </a:p>
        </p:txBody>
      </p:sp>
      <p:sp>
        <p:nvSpPr>
          <p:cNvPr id="3" name="TextBox 2"/>
          <p:cNvSpPr txBox="1"/>
          <p:nvPr/>
        </p:nvSpPr>
        <p:spPr>
          <a:xfrm>
            <a:off x="548640" y="1188720"/>
            <a:ext cx="10972800" cy="365760"/>
          </a:xfrm>
          <a:prstGeom prst="rect">
            <a:avLst/>
          </a:prstGeom>
          <a:noFill/>
        </p:spPr>
        <p:txBody>
          <a:bodyPr wrap="square">
            <a:spAutoFit/>
          </a:bodyPr>
          <a:lstStyle/>
          <a:p>
            <a:pPr algn="l"/>
            <a:r>
              <a:rPr sz="1800" b="1" i="0">
                <a:solidFill>
                  <a:srgbClr val="000000"/>
                </a:solidFill>
              </a:rPr>
              <a:t>Class Balancing — WeightedRandomSampler</a:t>
            </a:r>
          </a:p>
        </p:txBody>
      </p:sp>
      <p:sp>
        <p:nvSpPr>
          <p:cNvPr id="4" name="TextBox 3"/>
          <p:cNvSpPr txBox="1"/>
          <p:nvPr/>
        </p:nvSpPr>
        <p:spPr>
          <a:xfrm>
            <a:off x="548640" y="1691640"/>
            <a:ext cx="10972800" cy="2286000"/>
          </a:xfrm>
          <a:prstGeom prst="rect">
            <a:avLst/>
          </a:prstGeom>
          <a:noFill/>
        </p:spPr>
        <p:txBody>
          <a:bodyPr wrap="square">
            <a:spAutoFit/>
          </a:bodyPr>
          <a:lstStyle/>
          <a:p>
            <a:pPr algn="l"/>
            <a:r>
              <a:rPr sz="1500" b="0" i="0">
                <a:solidFill>
                  <a:srgbClr val="000000"/>
                </a:solidFill>
              </a:rPr>
              <a:t>PlantVillage has unequal class sizes. For example, 'Tomato — Healthy' has 1,591 images while 'Raspberry — Healthy' has only 266. Without balancing, the model ignores rare classes.
Fix — Weighted Random Sampling:
    class_weight = 1.0 / count_per_class
    sample_weight = class_weight[label_of_each_image]
    sampler = WeightedRandomSampler(sample_weight, replacement=True)
Every class gets roughly equal representation per epoch regardless of its size.</a:t>
            </a:r>
          </a:p>
        </p:txBody>
      </p:sp>
      <p:sp>
        <p:nvSpPr>
          <p:cNvPr id="5" name="TextBox 4"/>
          <p:cNvSpPr txBox="1"/>
          <p:nvPr/>
        </p:nvSpPr>
        <p:spPr>
          <a:xfrm>
            <a:off x="548640" y="4023360"/>
            <a:ext cx="10972800" cy="365760"/>
          </a:xfrm>
          <a:prstGeom prst="rect">
            <a:avLst/>
          </a:prstGeom>
          <a:noFill/>
        </p:spPr>
        <p:txBody>
          <a:bodyPr wrap="square">
            <a:spAutoFit/>
          </a:bodyPr>
          <a:lstStyle/>
          <a:p>
            <a:pPr algn="l"/>
            <a:r>
              <a:rPr sz="1800" b="1" i="0">
                <a:solidFill>
                  <a:srgbClr val="000000"/>
                </a:solidFill>
              </a:rPr>
              <a:t>Loss Function — Cross-Entropy with Label Smoothing</a:t>
            </a:r>
          </a:p>
        </p:txBody>
      </p:sp>
      <p:sp>
        <p:nvSpPr>
          <p:cNvPr id="6" name="TextBox 5"/>
          <p:cNvSpPr txBox="1"/>
          <p:nvPr/>
        </p:nvSpPr>
        <p:spPr>
          <a:xfrm>
            <a:off x="548640" y="4480560"/>
            <a:ext cx="10972800" cy="1645920"/>
          </a:xfrm>
          <a:prstGeom prst="rect">
            <a:avLst/>
          </a:prstGeom>
          <a:noFill/>
        </p:spPr>
        <p:txBody>
          <a:bodyPr wrap="square">
            <a:spAutoFit/>
          </a:bodyPr>
          <a:lstStyle/>
          <a:p>
            <a:pPr algn="l"/>
            <a:r>
              <a:rPr sz="1500" b="0" i="0">
                <a:solidFill>
                  <a:srgbClr val="000000"/>
                </a:solidFill>
              </a:rPr>
              <a:t>Standard cross-entropy pushes the model to output exactly 1.0 for the correct class. Label smoothing (ε = 0.1) distributes a small probability mass across wrong classes, preventing overconfident predictions and improving generalisation on unseen images.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3-PHASE TRAINING STRATEGY</a:t>
            </a:r>
          </a:p>
        </p:txBody>
      </p:sp>
      <p:sp>
        <p:nvSpPr>
          <p:cNvPr id="3" name="Rectangle 2"/>
          <p:cNvSpPr/>
          <p:nvPr/>
        </p:nvSpPr>
        <p:spPr>
          <a:xfrm>
            <a:off x="731520" y="1234440"/>
            <a:ext cx="10698480" cy="137160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000000"/>
                </a:solidFill>
              </a:rPr>
              <a:t>Phase 1 — Backbone Frozen</a:t>
            </a:r>
          </a:p>
          <a:p>
            <a:pPr algn="l"/>
            <a:r>
              <a:rPr sz="1400">
                <a:solidFill>
                  <a:srgbClr val="000000"/>
                </a:solidFill>
              </a:rPr>
              <a:t>Only custom head trains.  Backbone retains ImageNet weights.
Fast convergence, no risk of destroying pretrained features.</a:t>
            </a:r>
          </a:p>
        </p:txBody>
      </p:sp>
      <p:sp>
        <p:nvSpPr>
          <p:cNvPr id="4" name="Rectangle 3"/>
          <p:cNvSpPr/>
          <p:nvPr/>
        </p:nvSpPr>
        <p:spPr>
          <a:xfrm>
            <a:off x="731520" y="2743200"/>
            <a:ext cx="10698480" cy="1371600"/>
          </a:xfrm>
          <a:prstGeom prst="rect">
            <a:avLst/>
          </a:prstGeom>
          <a:solidFill>
            <a:srgbClr val="C6EFC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000000"/>
                </a:solidFill>
              </a:rPr>
              <a:t>Phase 2 — Partial Unfreeze</a:t>
            </a:r>
          </a:p>
          <a:p>
            <a:pPr algn="l"/>
            <a:r>
              <a:rPr sz="1400">
                <a:solidFill>
                  <a:srgbClr val="000000"/>
                </a:solidFill>
              </a:rPr>
              <a:t>Last 2 MBConv stages unfrozen with low LR (1e-4).
Fine-tunes high-level features for plant disease patterns.</a:t>
            </a:r>
          </a:p>
        </p:txBody>
      </p:sp>
      <p:sp>
        <p:nvSpPr>
          <p:cNvPr id="5" name="Rectangle 4"/>
          <p:cNvSpPr/>
          <p:nvPr/>
        </p:nvSpPr>
        <p:spPr>
          <a:xfrm>
            <a:off x="731520" y="4251960"/>
            <a:ext cx="10698480" cy="137160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000000"/>
                </a:solidFill>
              </a:rPr>
              <a:t>Phase 3 — Full Unfreeze</a:t>
            </a:r>
          </a:p>
          <a:p>
            <a:pPr algn="l"/>
            <a:r>
              <a:rPr sz="1400">
                <a:solidFill>
                  <a:srgbClr val="000000"/>
                </a:solidFill>
              </a:rPr>
              <a:t>Entire network trains end-to-end with very low LR (1e-5).
Gradient clipping (max_norm=1.0) prevents exploding gradients.</a:t>
            </a:r>
          </a:p>
        </p:txBody>
      </p:sp>
      <p:sp>
        <p:nvSpPr>
          <p:cNvPr id="6" name="TextBox 5"/>
          <p:cNvSpPr txBox="1"/>
          <p:nvPr/>
        </p:nvSpPr>
        <p:spPr>
          <a:xfrm>
            <a:off x="731520" y="6126480"/>
            <a:ext cx="10698480" cy="365760"/>
          </a:xfrm>
          <a:prstGeom prst="rect">
            <a:avLst/>
          </a:prstGeom>
          <a:noFill/>
        </p:spPr>
        <p:txBody>
          <a:bodyPr wrap="square">
            <a:spAutoFit/>
          </a:bodyPr>
          <a:lstStyle/>
          <a:p>
            <a:pPr algn="l"/>
            <a:r>
              <a:rPr sz="1300" b="0" i="1">
                <a:solidFill>
                  <a:srgbClr val="000000"/>
                </a:solidFill>
              </a:rPr>
              <a:t>Optimizer: AdamW  |  Scheduler: OneCycleLR  |  Mixed Precision: float16 on GPU  (~2× faster)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NOT-A-LEAF DETECTION — 3-Layer Mechanism</a:t>
            </a:r>
          </a:p>
        </p:txBody>
      </p:sp>
      <p:sp>
        <p:nvSpPr>
          <p:cNvPr id="3" name="Rectangle 2"/>
          <p:cNvSpPr/>
          <p:nvPr/>
        </p:nvSpPr>
        <p:spPr>
          <a:xfrm>
            <a:off x="548640" y="1234440"/>
            <a:ext cx="1371600" cy="128016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Layer 1</a:t>
            </a:r>
          </a:p>
        </p:txBody>
      </p:sp>
      <p:sp>
        <p:nvSpPr>
          <p:cNvPr id="4" name="Rectangle 3"/>
          <p:cNvSpPr/>
          <p:nvPr/>
        </p:nvSpPr>
        <p:spPr>
          <a:xfrm>
            <a:off x="2011680" y="1234440"/>
            <a:ext cx="4114800" cy="1280160"/>
          </a:xfrm>
          <a:prstGeom prst="rect">
            <a:avLst/>
          </a:prstGeom>
          <a:solidFill>
            <a:srgbClr val="C6EFC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predicted_class == 'not_a_leaf'</a:t>
            </a:r>
          </a:p>
        </p:txBody>
      </p:sp>
      <p:sp>
        <p:nvSpPr>
          <p:cNvPr id="5" name="Rectangle 4"/>
          <p:cNvSpPr/>
          <p:nvPr/>
        </p:nvSpPr>
        <p:spPr>
          <a:xfrm>
            <a:off x="6217920" y="1234440"/>
            <a:ext cx="5486400" cy="128016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Model explicitly trained on 1,500 synthetic non-leaf images
(solid colours, random noise, gradients, patterns).</a:t>
            </a:r>
          </a:p>
        </p:txBody>
      </p:sp>
      <p:sp>
        <p:nvSpPr>
          <p:cNvPr id="6" name="Rectangle 5"/>
          <p:cNvSpPr/>
          <p:nvPr/>
        </p:nvSpPr>
        <p:spPr>
          <a:xfrm>
            <a:off x="548640" y="2743200"/>
            <a:ext cx="1371600" cy="128016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Layer 2</a:t>
            </a:r>
          </a:p>
        </p:txBody>
      </p:sp>
      <p:sp>
        <p:nvSpPr>
          <p:cNvPr id="7" name="Rectangle 6"/>
          <p:cNvSpPr/>
          <p:nvPr/>
        </p:nvSpPr>
        <p:spPr>
          <a:xfrm>
            <a:off x="2011680" y="2743200"/>
            <a:ext cx="4114800" cy="128016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not_a_leaf_probability &gt; 35 %</a:t>
            </a:r>
          </a:p>
        </p:txBody>
      </p:sp>
      <p:sp>
        <p:nvSpPr>
          <p:cNvPr id="8" name="Rectangle 7"/>
          <p:cNvSpPr/>
          <p:nvPr/>
        </p:nvSpPr>
        <p:spPr>
          <a:xfrm>
            <a:off x="6217920" y="2743200"/>
            <a:ext cx="5486400" cy="128016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Even if 'not_a_leaf' is not the top-1 prediction,
high probability triggers rejection.</a:t>
            </a:r>
          </a:p>
        </p:txBody>
      </p:sp>
      <p:sp>
        <p:nvSpPr>
          <p:cNvPr id="9" name="Rectangle 8"/>
          <p:cNvSpPr/>
          <p:nvPr/>
        </p:nvSpPr>
        <p:spPr>
          <a:xfrm>
            <a:off x="548640" y="4251960"/>
            <a:ext cx="1371600" cy="128016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Layer 3</a:t>
            </a:r>
          </a:p>
        </p:txBody>
      </p:sp>
      <p:sp>
        <p:nvSpPr>
          <p:cNvPr id="10" name="Rectangle 9"/>
          <p:cNvSpPr/>
          <p:nvPr/>
        </p:nvSpPr>
        <p:spPr>
          <a:xfrm>
            <a:off x="2011680" y="4251960"/>
            <a:ext cx="4114800" cy="128016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max_confidence &lt; 50 %</a:t>
            </a:r>
          </a:p>
        </p:txBody>
      </p:sp>
      <p:sp>
        <p:nvSpPr>
          <p:cNvPr id="11" name="Rectangle 10"/>
          <p:cNvSpPr/>
          <p:nvPr/>
        </p:nvSpPr>
        <p:spPr>
          <a:xfrm>
            <a:off x="6217920" y="4251960"/>
            <a:ext cx="5486400" cy="128016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If the model isn't confident about any class,
it is safer to return 'unknown' than to guess.</a:t>
            </a:r>
          </a:p>
        </p:txBody>
      </p:sp>
      <p:sp>
        <p:nvSpPr>
          <p:cNvPr id="12" name="TextBox 11"/>
          <p:cNvSpPr txBox="1"/>
          <p:nvPr/>
        </p:nvSpPr>
        <p:spPr>
          <a:xfrm>
            <a:off x="548640" y="5852160"/>
            <a:ext cx="10972800" cy="502920"/>
          </a:xfrm>
          <a:prstGeom prst="rect">
            <a:avLst/>
          </a:prstGeom>
          <a:noFill/>
        </p:spPr>
        <p:txBody>
          <a:bodyPr wrap="square">
            <a:spAutoFit/>
          </a:bodyPr>
          <a:lstStyle/>
          <a:p>
            <a:pPr algn="l"/>
            <a:r>
              <a:rPr sz="1400" b="1" i="0">
                <a:solidFill>
                  <a:srgbClr val="000000"/>
                </a:solidFill>
              </a:rPr>
              <a:t>Why 3 layers? Any single layer can be fooled. The combination is robust against adversarial inputs.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SYSTEM DESIGN</a:t>
            </a:r>
          </a:p>
        </p:txBody>
      </p:sp>
      <p:sp>
        <p:nvSpPr>
          <p:cNvPr id="3" name="TextBox 2"/>
          <p:cNvSpPr txBox="1"/>
          <p:nvPr/>
        </p:nvSpPr>
        <p:spPr>
          <a:xfrm>
            <a:off x="548640" y="1188720"/>
            <a:ext cx="10972800" cy="365760"/>
          </a:xfrm>
          <a:prstGeom prst="rect">
            <a:avLst/>
          </a:prstGeom>
          <a:noFill/>
        </p:spPr>
        <p:txBody>
          <a:bodyPr wrap="square">
            <a:spAutoFit/>
          </a:bodyPr>
          <a:lstStyle/>
          <a:p>
            <a:pPr algn="l"/>
            <a:r>
              <a:rPr sz="1800" b="1" i="0">
                <a:solidFill>
                  <a:srgbClr val="000000"/>
                </a:solidFill>
              </a:rPr>
              <a:t>System Overview</a:t>
            </a:r>
          </a:p>
        </p:txBody>
      </p:sp>
      <p:sp>
        <p:nvSpPr>
          <p:cNvPr id="4" name="TextBox 3"/>
          <p:cNvSpPr txBox="1"/>
          <p:nvPr/>
        </p:nvSpPr>
        <p:spPr>
          <a:xfrm>
            <a:off x="548640" y="1645920"/>
            <a:ext cx="10972800" cy="1097280"/>
          </a:xfrm>
          <a:prstGeom prst="rect">
            <a:avLst/>
          </a:prstGeom>
          <a:noFill/>
        </p:spPr>
        <p:txBody>
          <a:bodyPr wrap="square">
            <a:spAutoFit/>
          </a:bodyPr>
          <a:lstStyle/>
          <a:p>
            <a:pPr algn="l"/>
            <a:r>
              <a:rPr sz="1500" b="0" i="0">
                <a:solidFill>
                  <a:srgbClr val="000000"/>
                </a:solidFill>
              </a:rPr>
              <a:t>LeafScan is a full-stack application consisting of three tiers:
  1. Frontend  — HTML/CSS/JavaScript web interface
  2. Backend   — Flask REST API (Python)
  3. ML Engine — EfficientNetB3 inference engine</a:t>
            </a:r>
          </a:p>
        </p:txBody>
      </p:sp>
      <p:sp>
        <p:nvSpPr>
          <p:cNvPr id="5" name="Rectangle 4"/>
          <p:cNvSpPr/>
          <p:nvPr/>
        </p:nvSpPr>
        <p:spPr>
          <a:xfrm>
            <a:off x="548640" y="2834640"/>
            <a:ext cx="315468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Component</a:t>
            </a:r>
          </a:p>
        </p:txBody>
      </p:sp>
      <p:sp>
        <p:nvSpPr>
          <p:cNvPr id="6" name="Rectangle 5"/>
          <p:cNvSpPr/>
          <p:nvPr/>
        </p:nvSpPr>
        <p:spPr>
          <a:xfrm>
            <a:off x="3794760" y="2834640"/>
            <a:ext cx="315468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Technology</a:t>
            </a:r>
          </a:p>
        </p:txBody>
      </p:sp>
      <p:sp>
        <p:nvSpPr>
          <p:cNvPr id="7" name="Rectangle 6"/>
          <p:cNvSpPr/>
          <p:nvPr/>
        </p:nvSpPr>
        <p:spPr>
          <a:xfrm>
            <a:off x="7040880" y="2834640"/>
            <a:ext cx="498348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Responsibility</a:t>
            </a:r>
          </a:p>
        </p:txBody>
      </p:sp>
      <p:sp>
        <p:nvSpPr>
          <p:cNvPr id="8" name="Rectangle 7"/>
          <p:cNvSpPr/>
          <p:nvPr/>
        </p:nvSpPr>
        <p:spPr>
          <a:xfrm>
            <a:off x="548640" y="3246120"/>
            <a:ext cx="31546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Frontend</a:t>
            </a:r>
          </a:p>
        </p:txBody>
      </p:sp>
      <p:sp>
        <p:nvSpPr>
          <p:cNvPr id="9" name="Rectangle 8"/>
          <p:cNvSpPr/>
          <p:nvPr/>
        </p:nvSpPr>
        <p:spPr>
          <a:xfrm>
            <a:off x="3794760" y="3246120"/>
            <a:ext cx="31546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HTML / CSS / JS</a:t>
            </a:r>
          </a:p>
        </p:txBody>
      </p:sp>
      <p:sp>
        <p:nvSpPr>
          <p:cNvPr id="10" name="Rectangle 9"/>
          <p:cNvSpPr/>
          <p:nvPr/>
        </p:nvSpPr>
        <p:spPr>
          <a:xfrm>
            <a:off x="7040880" y="3246120"/>
            <a:ext cx="49834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Image upload, drag-drop, results display</a:t>
            </a:r>
          </a:p>
        </p:txBody>
      </p:sp>
      <p:sp>
        <p:nvSpPr>
          <p:cNvPr id="11" name="Rectangle 10"/>
          <p:cNvSpPr/>
          <p:nvPr/>
        </p:nvSpPr>
        <p:spPr>
          <a:xfrm>
            <a:off x="548640" y="3703320"/>
            <a:ext cx="31546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Backend</a:t>
            </a:r>
          </a:p>
        </p:txBody>
      </p:sp>
      <p:sp>
        <p:nvSpPr>
          <p:cNvPr id="12" name="Rectangle 11"/>
          <p:cNvSpPr/>
          <p:nvPr/>
        </p:nvSpPr>
        <p:spPr>
          <a:xfrm>
            <a:off x="3794760" y="3703320"/>
            <a:ext cx="31546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Flask (Python)</a:t>
            </a:r>
          </a:p>
        </p:txBody>
      </p:sp>
      <p:sp>
        <p:nvSpPr>
          <p:cNvPr id="13" name="Rectangle 12"/>
          <p:cNvSpPr/>
          <p:nvPr/>
        </p:nvSpPr>
        <p:spPr>
          <a:xfrm>
            <a:off x="7040880" y="3703320"/>
            <a:ext cx="49834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/predict, /predict-url, /health endpoints</a:t>
            </a:r>
          </a:p>
        </p:txBody>
      </p:sp>
      <p:sp>
        <p:nvSpPr>
          <p:cNvPr id="14" name="Rectangle 13"/>
          <p:cNvSpPr/>
          <p:nvPr/>
        </p:nvSpPr>
        <p:spPr>
          <a:xfrm>
            <a:off x="548640" y="4160520"/>
            <a:ext cx="31546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ML Engine</a:t>
            </a:r>
          </a:p>
        </p:txBody>
      </p:sp>
      <p:sp>
        <p:nvSpPr>
          <p:cNvPr id="15" name="Rectangle 14"/>
          <p:cNvSpPr/>
          <p:nvPr/>
        </p:nvSpPr>
        <p:spPr>
          <a:xfrm>
            <a:off x="3794760" y="4160520"/>
            <a:ext cx="31546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EfficientNetB3</a:t>
            </a:r>
          </a:p>
        </p:txBody>
      </p:sp>
      <p:sp>
        <p:nvSpPr>
          <p:cNvPr id="16" name="Rectangle 15"/>
          <p:cNvSpPr/>
          <p:nvPr/>
        </p:nvSpPr>
        <p:spPr>
          <a:xfrm>
            <a:off x="7040880" y="4160520"/>
            <a:ext cx="49834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Inference, not-a-leaf detection, confidence scoring</a:t>
            </a:r>
          </a:p>
        </p:txBody>
      </p:sp>
      <p:sp>
        <p:nvSpPr>
          <p:cNvPr id="17" name="Rectangle 16"/>
          <p:cNvSpPr/>
          <p:nvPr/>
        </p:nvSpPr>
        <p:spPr>
          <a:xfrm>
            <a:off x="548640" y="4617720"/>
            <a:ext cx="31546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Data Store</a:t>
            </a:r>
          </a:p>
        </p:txBody>
      </p:sp>
      <p:sp>
        <p:nvSpPr>
          <p:cNvPr id="18" name="Rectangle 17"/>
          <p:cNvSpPr/>
          <p:nvPr/>
        </p:nvSpPr>
        <p:spPr>
          <a:xfrm>
            <a:off x="3794760" y="4617720"/>
            <a:ext cx="31546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PlantVillage (54k imgs)</a:t>
            </a:r>
          </a:p>
        </p:txBody>
      </p:sp>
      <p:sp>
        <p:nvSpPr>
          <p:cNvPr id="19" name="Rectangle 18"/>
          <p:cNvSpPr/>
          <p:nvPr/>
        </p:nvSpPr>
        <p:spPr>
          <a:xfrm>
            <a:off x="7040880" y="4617720"/>
            <a:ext cx="49834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Training dataset, 39 classes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WORKFLOW SUMMARY</a:t>
            </a:r>
          </a:p>
        </p:txBody>
      </p:sp>
      <p:sp>
        <p:nvSpPr>
          <p:cNvPr id="3" name="Rectangle 2"/>
          <p:cNvSpPr/>
          <p:nvPr/>
        </p:nvSpPr>
        <p:spPr>
          <a:xfrm>
            <a:off x="914400" y="1188720"/>
            <a:ext cx="10332720" cy="82296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000000"/>
                </a:solidFill>
              </a:rPr>
              <a:t>Step 1 — Input:  </a:t>
            </a:r>
            <a:r>
              <a:rPr sz="1400">
                <a:solidFill>
                  <a:srgbClr val="000000"/>
                </a:solidFill>
              </a:rPr>
              <a:t>User uploads image via web UI, camera, or URL (JPEG/PNG)</a:t>
            </a:r>
          </a:p>
        </p:txBody>
      </p:sp>
      <p:cxnSp>
        <p:nvCxnSpPr>
          <p:cNvPr id="4" name="Connector 3"/>
          <p:cNvCxnSpPr/>
          <p:nvPr/>
        </p:nvCxnSpPr>
        <p:spPr>
          <a:xfrm>
            <a:off x="6080760.0" y="2011680"/>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914400" y="2212848"/>
            <a:ext cx="10332720" cy="822960"/>
          </a:xfrm>
          <a:prstGeom prst="rect">
            <a:avLst/>
          </a:prstGeom>
          <a:solidFill>
            <a:srgbClr val="C6EFC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000000"/>
                </a:solidFill>
              </a:rPr>
              <a:t>Step 2 — Preprocessing:  </a:t>
            </a:r>
            <a:r>
              <a:rPr sz="1400">
                <a:solidFill>
                  <a:srgbClr val="000000"/>
                </a:solidFill>
              </a:rPr>
              <a:t>Resize to 300×300, normalise with ImageNet mean/std, convert to tensor</a:t>
            </a:r>
          </a:p>
        </p:txBody>
      </p:sp>
      <p:cxnSp>
        <p:nvCxnSpPr>
          <p:cNvPr id="6" name="Connector 5"/>
          <p:cNvCxnSpPr/>
          <p:nvPr/>
        </p:nvCxnSpPr>
        <p:spPr>
          <a:xfrm>
            <a:off x="6080760.0" y="3035808"/>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914400" y="3236976"/>
            <a:ext cx="10332720" cy="822960"/>
          </a:xfrm>
          <a:prstGeom prst="rect">
            <a:avLst/>
          </a:prstGeom>
          <a:solidFill>
            <a:srgbClr val="C6EFC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000000"/>
                </a:solidFill>
              </a:rPr>
              <a:t>Step 3 — Model Inference:  </a:t>
            </a:r>
            <a:r>
              <a:rPr sz="1400">
                <a:solidFill>
                  <a:srgbClr val="000000"/>
                </a:solidFill>
              </a:rPr>
              <a:t>EfficientNetB3 produces 39-class probability distribution</a:t>
            </a:r>
          </a:p>
        </p:txBody>
      </p:sp>
      <p:cxnSp>
        <p:nvCxnSpPr>
          <p:cNvPr id="8" name="Connector 7"/>
          <p:cNvCxnSpPr/>
          <p:nvPr/>
        </p:nvCxnSpPr>
        <p:spPr>
          <a:xfrm>
            <a:off x="6080760.0" y="4059936"/>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914400" y="4261104"/>
            <a:ext cx="10332720" cy="822960"/>
          </a:xfrm>
          <a:prstGeom prst="rect">
            <a:avLst/>
          </a:prstGeom>
          <a:solidFill>
            <a:srgbClr val="BDD7E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000000"/>
                </a:solidFill>
              </a:rPr>
              <a:t>Step 4 — Not-a-Leaf Check:  </a:t>
            </a:r>
            <a:r>
              <a:rPr sz="1400">
                <a:solidFill>
                  <a:srgbClr val="000000"/>
                </a:solidFill>
              </a:rPr>
              <a:t>3-layer rejection: class == not_a_leaf  OR  P(not_leaf)&gt;35%  OR  max_conf&lt;50%</a:t>
            </a:r>
          </a:p>
        </p:txBody>
      </p:sp>
      <p:cxnSp>
        <p:nvCxnSpPr>
          <p:cNvPr id="10" name="Connector 9"/>
          <p:cNvCxnSpPr/>
          <p:nvPr/>
        </p:nvCxnSpPr>
        <p:spPr>
          <a:xfrm>
            <a:off x="6080760.0" y="5084064"/>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14400" y="5285232"/>
            <a:ext cx="10332720" cy="822960"/>
          </a:xfrm>
          <a:prstGeom prst="rect">
            <a:avLst/>
          </a:prstGeom>
          <a:solidFill>
            <a:srgbClr val="C6EFC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000000"/>
                </a:solidFill>
              </a:rPr>
              <a:t>Step 5 — Output:  </a:t>
            </a:r>
            <a:r>
              <a:rPr sz="1400">
                <a:solidFill>
                  <a:srgbClr val="000000"/>
                </a:solidFill>
              </a:rPr>
              <a:t>Predicted disease, confidence score, severity level, treatment recommendation</a:t>
            </a:r>
          </a:p>
        </p:txBody>
      </p:sp>
      <p:cxnSp>
        <p:nvCxnSpPr>
          <p:cNvPr id="12" name="Connector 11"/>
          <p:cNvCxnSpPr/>
          <p:nvPr/>
        </p:nvCxnSpPr>
        <p:spPr>
          <a:xfrm>
            <a:off x="6080760.0" y="6108192"/>
            <a:ext cx="0.0" cy="32004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BACKEND — Flask REST API Endpoints</a:t>
            </a:r>
          </a:p>
        </p:txBody>
      </p:sp>
      <p:sp>
        <p:nvSpPr>
          <p:cNvPr id="3" name="Rectangle 2"/>
          <p:cNvSpPr/>
          <p:nvPr/>
        </p:nvSpPr>
        <p:spPr>
          <a:xfrm>
            <a:off x="457200" y="1280160"/>
            <a:ext cx="269748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Endpoint</a:t>
            </a:r>
          </a:p>
        </p:txBody>
      </p:sp>
      <p:sp>
        <p:nvSpPr>
          <p:cNvPr id="4" name="Rectangle 3"/>
          <p:cNvSpPr/>
          <p:nvPr/>
        </p:nvSpPr>
        <p:spPr>
          <a:xfrm>
            <a:off x="3200400" y="1280160"/>
            <a:ext cx="132588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Method</a:t>
            </a:r>
          </a:p>
        </p:txBody>
      </p:sp>
      <p:sp>
        <p:nvSpPr>
          <p:cNvPr id="5" name="Rectangle 4"/>
          <p:cNvSpPr/>
          <p:nvPr/>
        </p:nvSpPr>
        <p:spPr>
          <a:xfrm>
            <a:off x="4572000" y="1280160"/>
            <a:ext cx="315468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Input</a:t>
            </a:r>
          </a:p>
        </p:txBody>
      </p:sp>
      <p:sp>
        <p:nvSpPr>
          <p:cNvPr id="6" name="Rectangle 5"/>
          <p:cNvSpPr/>
          <p:nvPr/>
        </p:nvSpPr>
        <p:spPr>
          <a:xfrm>
            <a:off x="7772400" y="1280160"/>
            <a:ext cx="434340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Use Case</a:t>
            </a:r>
          </a:p>
        </p:txBody>
      </p:sp>
      <p:sp>
        <p:nvSpPr>
          <p:cNvPr id="7" name="Rectangle 6"/>
          <p:cNvSpPr/>
          <p:nvPr/>
        </p:nvSpPr>
        <p:spPr>
          <a:xfrm>
            <a:off x="457200" y="1691640"/>
            <a:ext cx="26974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/api/predict</a:t>
            </a:r>
          </a:p>
        </p:txBody>
      </p:sp>
      <p:sp>
        <p:nvSpPr>
          <p:cNvPr id="8" name="Rectangle 7"/>
          <p:cNvSpPr/>
          <p:nvPr/>
        </p:nvSpPr>
        <p:spPr>
          <a:xfrm>
            <a:off x="3200400" y="1691640"/>
            <a:ext cx="13258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POST</a:t>
            </a:r>
          </a:p>
        </p:txBody>
      </p:sp>
      <p:sp>
        <p:nvSpPr>
          <p:cNvPr id="9" name="Rectangle 8"/>
          <p:cNvSpPr/>
          <p:nvPr/>
        </p:nvSpPr>
        <p:spPr>
          <a:xfrm>
            <a:off x="4572000" y="1691640"/>
            <a:ext cx="31546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Image file</a:t>
            </a:r>
          </a:p>
        </p:txBody>
      </p:sp>
      <p:sp>
        <p:nvSpPr>
          <p:cNvPr id="10" name="Rectangle 9"/>
          <p:cNvSpPr/>
          <p:nvPr/>
        </p:nvSpPr>
        <p:spPr>
          <a:xfrm>
            <a:off x="7772400" y="1691640"/>
            <a:ext cx="434340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Upload and classify a leaf image</a:t>
            </a:r>
          </a:p>
        </p:txBody>
      </p:sp>
      <p:sp>
        <p:nvSpPr>
          <p:cNvPr id="11" name="Rectangle 10"/>
          <p:cNvSpPr/>
          <p:nvPr/>
        </p:nvSpPr>
        <p:spPr>
          <a:xfrm>
            <a:off x="457200" y="2148840"/>
            <a:ext cx="26974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/api/predict-url</a:t>
            </a:r>
          </a:p>
        </p:txBody>
      </p:sp>
      <p:sp>
        <p:nvSpPr>
          <p:cNvPr id="12" name="Rectangle 11"/>
          <p:cNvSpPr/>
          <p:nvPr/>
        </p:nvSpPr>
        <p:spPr>
          <a:xfrm>
            <a:off x="3200400" y="2148840"/>
            <a:ext cx="13258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POST</a:t>
            </a:r>
          </a:p>
        </p:txBody>
      </p:sp>
      <p:sp>
        <p:nvSpPr>
          <p:cNvPr id="13" name="Rectangle 12"/>
          <p:cNvSpPr/>
          <p:nvPr/>
        </p:nvSpPr>
        <p:spPr>
          <a:xfrm>
            <a:off x="4572000" y="2148840"/>
            <a:ext cx="31546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Image URL</a:t>
            </a:r>
          </a:p>
        </p:txBody>
      </p:sp>
      <p:sp>
        <p:nvSpPr>
          <p:cNvPr id="14" name="Rectangle 13"/>
          <p:cNvSpPr/>
          <p:nvPr/>
        </p:nvSpPr>
        <p:spPr>
          <a:xfrm>
            <a:off x="7772400" y="2148840"/>
            <a:ext cx="434340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Classify image from a URL</a:t>
            </a:r>
          </a:p>
        </p:txBody>
      </p:sp>
      <p:sp>
        <p:nvSpPr>
          <p:cNvPr id="15" name="Rectangle 14"/>
          <p:cNvSpPr/>
          <p:nvPr/>
        </p:nvSpPr>
        <p:spPr>
          <a:xfrm>
            <a:off x="457200" y="2606040"/>
            <a:ext cx="26974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/api/predict-b64</a:t>
            </a:r>
          </a:p>
        </p:txBody>
      </p:sp>
      <p:sp>
        <p:nvSpPr>
          <p:cNvPr id="16" name="Rectangle 15"/>
          <p:cNvSpPr/>
          <p:nvPr/>
        </p:nvSpPr>
        <p:spPr>
          <a:xfrm>
            <a:off x="3200400" y="2606040"/>
            <a:ext cx="13258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POST</a:t>
            </a:r>
          </a:p>
        </p:txBody>
      </p:sp>
      <p:sp>
        <p:nvSpPr>
          <p:cNvPr id="17" name="Rectangle 16"/>
          <p:cNvSpPr/>
          <p:nvPr/>
        </p:nvSpPr>
        <p:spPr>
          <a:xfrm>
            <a:off x="4572000" y="2606040"/>
            <a:ext cx="31546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Base64 string</a:t>
            </a:r>
          </a:p>
        </p:txBody>
      </p:sp>
      <p:sp>
        <p:nvSpPr>
          <p:cNvPr id="18" name="Rectangle 17"/>
          <p:cNvSpPr/>
          <p:nvPr/>
        </p:nvSpPr>
        <p:spPr>
          <a:xfrm>
            <a:off x="7772400" y="2606040"/>
            <a:ext cx="434340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Classify base64-encoded image</a:t>
            </a:r>
          </a:p>
        </p:txBody>
      </p:sp>
      <p:sp>
        <p:nvSpPr>
          <p:cNvPr id="19" name="Rectangle 18"/>
          <p:cNvSpPr/>
          <p:nvPr/>
        </p:nvSpPr>
        <p:spPr>
          <a:xfrm>
            <a:off x="457200" y="3063240"/>
            <a:ext cx="26974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/api/classes</a:t>
            </a:r>
          </a:p>
        </p:txBody>
      </p:sp>
      <p:sp>
        <p:nvSpPr>
          <p:cNvPr id="20" name="Rectangle 19"/>
          <p:cNvSpPr/>
          <p:nvPr/>
        </p:nvSpPr>
        <p:spPr>
          <a:xfrm>
            <a:off x="3200400" y="3063240"/>
            <a:ext cx="13258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GET</a:t>
            </a:r>
          </a:p>
        </p:txBody>
      </p:sp>
      <p:sp>
        <p:nvSpPr>
          <p:cNvPr id="21" name="Rectangle 20"/>
          <p:cNvSpPr/>
          <p:nvPr/>
        </p:nvSpPr>
        <p:spPr>
          <a:xfrm>
            <a:off x="4572000" y="3063240"/>
            <a:ext cx="315468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a:t>
            </a:r>
          </a:p>
        </p:txBody>
      </p:sp>
      <p:sp>
        <p:nvSpPr>
          <p:cNvPr id="22" name="Rectangle 21"/>
          <p:cNvSpPr/>
          <p:nvPr/>
        </p:nvSpPr>
        <p:spPr>
          <a:xfrm>
            <a:off x="7772400" y="3063240"/>
            <a:ext cx="434340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List all 39 supported disease classes</a:t>
            </a:r>
          </a:p>
        </p:txBody>
      </p:sp>
      <p:sp>
        <p:nvSpPr>
          <p:cNvPr id="23" name="Rectangle 22"/>
          <p:cNvSpPr/>
          <p:nvPr/>
        </p:nvSpPr>
        <p:spPr>
          <a:xfrm>
            <a:off x="457200" y="3520440"/>
            <a:ext cx="26974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/health</a:t>
            </a:r>
          </a:p>
        </p:txBody>
      </p:sp>
      <p:sp>
        <p:nvSpPr>
          <p:cNvPr id="24" name="Rectangle 23"/>
          <p:cNvSpPr/>
          <p:nvPr/>
        </p:nvSpPr>
        <p:spPr>
          <a:xfrm>
            <a:off x="3200400" y="3520440"/>
            <a:ext cx="13258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GET</a:t>
            </a:r>
          </a:p>
        </p:txBody>
      </p:sp>
      <p:sp>
        <p:nvSpPr>
          <p:cNvPr id="25" name="Rectangle 24"/>
          <p:cNvSpPr/>
          <p:nvPr/>
        </p:nvSpPr>
        <p:spPr>
          <a:xfrm>
            <a:off x="4572000" y="3520440"/>
            <a:ext cx="315468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a:t>
            </a:r>
          </a:p>
        </p:txBody>
      </p:sp>
      <p:sp>
        <p:nvSpPr>
          <p:cNvPr id="26" name="Rectangle 25"/>
          <p:cNvSpPr/>
          <p:nvPr/>
        </p:nvSpPr>
        <p:spPr>
          <a:xfrm>
            <a:off x="7772400" y="3520440"/>
            <a:ext cx="434340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Server health check / model status</a:t>
            </a:r>
          </a:p>
        </p:txBody>
      </p:sp>
      <p:sp>
        <p:nvSpPr>
          <p:cNvPr id="27" name="TextBox 26"/>
          <p:cNvSpPr txBox="1"/>
          <p:nvPr/>
        </p:nvSpPr>
        <p:spPr>
          <a:xfrm>
            <a:off x="457200" y="4389120"/>
            <a:ext cx="10972800" cy="365760"/>
          </a:xfrm>
          <a:prstGeom prst="rect">
            <a:avLst/>
          </a:prstGeom>
          <a:noFill/>
        </p:spPr>
        <p:txBody>
          <a:bodyPr wrap="square">
            <a:spAutoFit/>
          </a:bodyPr>
          <a:lstStyle/>
          <a:p>
            <a:pPr algn="l"/>
            <a:r>
              <a:rPr sz="1700" b="1" i="0">
                <a:solidFill>
                  <a:srgbClr val="000000"/>
                </a:solidFill>
              </a:rPr>
              <a:t>File Breakdown:</a:t>
            </a:r>
          </a:p>
        </p:txBody>
      </p:sp>
      <p:sp>
        <p:nvSpPr>
          <p:cNvPr id="28" name="TextBox 27"/>
          <p:cNvSpPr txBox="1"/>
          <p:nvPr/>
        </p:nvSpPr>
        <p:spPr>
          <a:xfrm>
            <a:off x="457200" y="4846320"/>
            <a:ext cx="10972800" cy="347472"/>
          </a:xfrm>
          <a:prstGeom prst="rect">
            <a:avLst/>
          </a:prstGeom>
          <a:noFill/>
        </p:spPr>
        <p:txBody>
          <a:bodyPr wrap="square">
            <a:spAutoFit/>
          </a:bodyPr>
          <a:lstStyle/>
          <a:p>
            <a:pPr algn="l"/>
            <a:r>
              <a:rPr sz="1400" b="0" i="0">
                <a:solidFill>
                  <a:srgbClr val="000000"/>
                </a:solidFill>
              </a:rPr>
              <a:t>• model.py (128 lines)  —  EfficientNetB3 class, freeze/unfreeze methods</a:t>
            </a:r>
          </a:p>
        </p:txBody>
      </p:sp>
      <p:sp>
        <p:nvSpPr>
          <p:cNvPr id="29" name="TextBox 28"/>
          <p:cNvSpPr txBox="1"/>
          <p:nvPr/>
        </p:nvSpPr>
        <p:spPr>
          <a:xfrm>
            <a:off x="457200" y="5212080"/>
            <a:ext cx="10972800" cy="347472"/>
          </a:xfrm>
          <a:prstGeom prst="rect">
            <a:avLst/>
          </a:prstGeom>
          <a:noFill/>
        </p:spPr>
        <p:txBody>
          <a:bodyPr wrap="square">
            <a:spAutoFit/>
          </a:bodyPr>
          <a:lstStyle/>
          <a:p>
            <a:pPr algn="l"/>
            <a:r>
              <a:rPr sz="1400" b="0" i="0">
                <a:solidFill>
                  <a:srgbClr val="000000"/>
                </a:solidFill>
              </a:rPr>
              <a:t>• train.py (385 lines)  —  3-phase training, augmentation, weighted sampler</a:t>
            </a:r>
          </a:p>
        </p:txBody>
      </p:sp>
      <p:sp>
        <p:nvSpPr>
          <p:cNvPr id="30" name="TextBox 29"/>
          <p:cNvSpPr txBox="1"/>
          <p:nvPr/>
        </p:nvSpPr>
        <p:spPr>
          <a:xfrm>
            <a:off x="457200" y="5577840"/>
            <a:ext cx="10972800" cy="347472"/>
          </a:xfrm>
          <a:prstGeom prst="rect">
            <a:avLst/>
          </a:prstGeom>
          <a:noFill/>
        </p:spPr>
        <p:txBody>
          <a:bodyPr wrap="square">
            <a:spAutoFit/>
          </a:bodyPr>
          <a:lstStyle/>
          <a:p>
            <a:pPr algn="l"/>
            <a:r>
              <a:rPr sz="1400" b="0" i="0">
                <a:solidFill>
                  <a:srgbClr val="000000"/>
                </a:solidFill>
              </a:rPr>
              <a:t>• predict.py (318 lines)  —  Inference engine, 3-layer not-a-leaf detection</a:t>
            </a:r>
          </a:p>
        </p:txBody>
      </p:sp>
      <p:sp>
        <p:nvSpPr>
          <p:cNvPr id="31" name="TextBox 30"/>
          <p:cNvSpPr txBox="1"/>
          <p:nvPr/>
        </p:nvSpPr>
        <p:spPr>
          <a:xfrm>
            <a:off x="457200" y="5943600"/>
            <a:ext cx="10972800" cy="347472"/>
          </a:xfrm>
          <a:prstGeom prst="rect">
            <a:avLst/>
          </a:prstGeom>
          <a:noFill/>
        </p:spPr>
        <p:txBody>
          <a:bodyPr wrap="square">
            <a:spAutoFit/>
          </a:bodyPr>
          <a:lstStyle/>
          <a:p>
            <a:pPr algn="l"/>
            <a:r>
              <a:rPr sz="1400" b="0" i="0">
                <a:solidFill>
                  <a:srgbClr val="000000"/>
                </a:solidFill>
              </a:rPr>
              <a:t>• app.py (252 lines)  —  Flask REST API, 5 endpoints</a:t>
            </a:r>
          </a:p>
        </p:txBody>
      </p:sp>
      <p:sp>
        <p:nvSpPr>
          <p:cNvPr id="32" name="TextBox 31"/>
          <p:cNvSpPr txBox="1"/>
          <p:nvPr/>
        </p:nvSpPr>
        <p:spPr>
          <a:xfrm>
            <a:off x="457200" y="6309360"/>
            <a:ext cx="10972800" cy="347472"/>
          </a:xfrm>
          <a:prstGeom prst="rect">
            <a:avLst/>
          </a:prstGeom>
          <a:noFill/>
        </p:spPr>
        <p:txBody>
          <a:bodyPr wrap="square">
            <a:spAutoFit/>
          </a:bodyPr>
          <a:lstStyle/>
          <a:p>
            <a:pPr algn="l"/>
            <a:r>
              <a:rPr sz="1400" b="0" i="0">
                <a:solidFill>
                  <a:srgbClr val="000000"/>
                </a:solidFill>
              </a:rPr>
              <a:t>• evaluate.py (207 lines)  —  Test evaluation, confusion matrix, plots</a:t>
            </a:r>
          </a:p>
        </p:txBody>
      </p:sp>
      <p:sp>
        <p:nvSpPr>
          <p:cNvPr id="33" name="TextBox 32"/>
          <p:cNvSpPr txBox="1"/>
          <p:nvPr/>
        </p:nvSpPr>
        <p:spPr>
          <a:xfrm>
            <a:off x="457200" y="6675120"/>
            <a:ext cx="10972800" cy="347472"/>
          </a:xfrm>
          <a:prstGeom prst="rect">
            <a:avLst/>
          </a:prstGeom>
          <a:noFill/>
        </p:spPr>
        <p:txBody>
          <a:bodyPr wrap="square">
            <a:spAutoFit/>
          </a:bodyPr>
          <a:lstStyle/>
          <a:p>
            <a:pPr algn="l"/>
            <a:r>
              <a:rPr sz="1400" b="0" i="0">
                <a:solidFill>
                  <a:srgbClr val="000000"/>
                </a:solidFill>
              </a:rPr>
              <a:t>• frontend/index.html  —  Complete web UI (891 lines)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PERFORMANCE &amp; RESULTS</a:t>
            </a:r>
          </a:p>
        </p:txBody>
      </p:sp>
      <p:sp>
        <p:nvSpPr>
          <p:cNvPr id="3" name="TextBox 2"/>
          <p:cNvSpPr txBox="1"/>
          <p:nvPr/>
        </p:nvSpPr>
        <p:spPr>
          <a:xfrm>
            <a:off x="548640" y="1188720"/>
            <a:ext cx="10972800" cy="365760"/>
          </a:xfrm>
          <a:prstGeom prst="rect">
            <a:avLst/>
          </a:prstGeom>
          <a:noFill/>
        </p:spPr>
        <p:txBody>
          <a:bodyPr wrap="square">
            <a:spAutoFit/>
          </a:bodyPr>
          <a:lstStyle/>
          <a:p>
            <a:pPr algn="l"/>
            <a:r>
              <a:rPr sz="1800" b="1" i="0">
                <a:solidFill>
                  <a:srgbClr val="000000"/>
                </a:solidFill>
              </a:rPr>
              <a:t>Overall Performance Metrics</a:t>
            </a:r>
          </a:p>
        </p:txBody>
      </p:sp>
      <p:sp>
        <p:nvSpPr>
          <p:cNvPr id="4" name="Rectangle 3"/>
          <p:cNvSpPr/>
          <p:nvPr/>
        </p:nvSpPr>
        <p:spPr>
          <a:xfrm>
            <a:off x="548640" y="1691640"/>
            <a:ext cx="585216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Metric</a:t>
            </a:r>
          </a:p>
        </p:txBody>
      </p:sp>
      <p:sp>
        <p:nvSpPr>
          <p:cNvPr id="5" name="Rectangle 4"/>
          <p:cNvSpPr/>
          <p:nvPr/>
        </p:nvSpPr>
        <p:spPr>
          <a:xfrm>
            <a:off x="6583680" y="1691640"/>
            <a:ext cx="4480560" cy="41148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Value</a:t>
            </a:r>
          </a:p>
        </p:txBody>
      </p:sp>
      <p:sp>
        <p:nvSpPr>
          <p:cNvPr id="6" name="Rectangle 5"/>
          <p:cNvSpPr/>
          <p:nvPr/>
        </p:nvSpPr>
        <p:spPr>
          <a:xfrm>
            <a:off x="548640" y="2103120"/>
            <a:ext cx="58521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Test Accuracy (in-dataset)</a:t>
            </a:r>
          </a:p>
        </p:txBody>
      </p:sp>
      <p:sp>
        <p:nvSpPr>
          <p:cNvPr id="7" name="Rectangle 6"/>
          <p:cNvSpPr/>
          <p:nvPr/>
        </p:nvSpPr>
        <p:spPr>
          <a:xfrm>
            <a:off x="6583680" y="2103120"/>
            <a:ext cx="44805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94 – 96 %</a:t>
            </a:r>
          </a:p>
        </p:txBody>
      </p:sp>
      <p:sp>
        <p:nvSpPr>
          <p:cNvPr id="8" name="Rectangle 7"/>
          <p:cNvSpPr/>
          <p:nvPr/>
        </p:nvSpPr>
        <p:spPr>
          <a:xfrm>
            <a:off x="548640" y="2560320"/>
            <a:ext cx="585216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Inference Time on T4 GPU</a:t>
            </a:r>
          </a:p>
        </p:txBody>
      </p:sp>
      <p:sp>
        <p:nvSpPr>
          <p:cNvPr id="9" name="Rectangle 8"/>
          <p:cNvSpPr/>
          <p:nvPr/>
        </p:nvSpPr>
        <p:spPr>
          <a:xfrm>
            <a:off x="6583680" y="2560320"/>
            <a:ext cx="448056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20 – 50 ms</a:t>
            </a:r>
          </a:p>
        </p:txBody>
      </p:sp>
      <p:sp>
        <p:nvSpPr>
          <p:cNvPr id="10" name="Rectangle 9"/>
          <p:cNvSpPr/>
          <p:nvPr/>
        </p:nvSpPr>
        <p:spPr>
          <a:xfrm>
            <a:off x="548640" y="3017520"/>
            <a:ext cx="58521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Inference Time on CPU</a:t>
            </a:r>
          </a:p>
        </p:txBody>
      </p:sp>
      <p:sp>
        <p:nvSpPr>
          <p:cNvPr id="11" name="Rectangle 10"/>
          <p:cNvSpPr/>
          <p:nvPr/>
        </p:nvSpPr>
        <p:spPr>
          <a:xfrm>
            <a:off x="6583680" y="3017520"/>
            <a:ext cx="44805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200 – 500 ms</a:t>
            </a:r>
          </a:p>
        </p:txBody>
      </p:sp>
      <p:sp>
        <p:nvSpPr>
          <p:cNvPr id="12" name="Rectangle 11"/>
          <p:cNvSpPr/>
          <p:nvPr/>
        </p:nvSpPr>
        <p:spPr>
          <a:xfrm>
            <a:off x="548640" y="3474720"/>
            <a:ext cx="585216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Model File Size</a:t>
            </a:r>
          </a:p>
        </p:txBody>
      </p:sp>
      <p:sp>
        <p:nvSpPr>
          <p:cNvPr id="13" name="Rectangle 12"/>
          <p:cNvSpPr/>
          <p:nvPr/>
        </p:nvSpPr>
        <p:spPr>
          <a:xfrm>
            <a:off x="6583680" y="3474720"/>
            <a:ext cx="448056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~48 MB</a:t>
            </a:r>
          </a:p>
        </p:txBody>
      </p:sp>
      <p:sp>
        <p:nvSpPr>
          <p:cNvPr id="14" name="Rectangle 13"/>
          <p:cNvSpPr/>
          <p:nvPr/>
        </p:nvSpPr>
        <p:spPr>
          <a:xfrm>
            <a:off x="548640" y="3931920"/>
            <a:ext cx="58521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Training Time on T4</a:t>
            </a:r>
          </a:p>
        </p:txBody>
      </p:sp>
      <p:sp>
        <p:nvSpPr>
          <p:cNvPr id="15" name="Rectangle 14"/>
          <p:cNvSpPr/>
          <p:nvPr/>
        </p:nvSpPr>
        <p:spPr>
          <a:xfrm>
            <a:off x="6583680" y="3931920"/>
            <a:ext cx="44805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~1.5 – 2 hours</a:t>
            </a:r>
          </a:p>
        </p:txBody>
      </p:sp>
      <p:sp>
        <p:nvSpPr>
          <p:cNvPr id="16" name="Rectangle 15"/>
          <p:cNvSpPr/>
          <p:nvPr/>
        </p:nvSpPr>
        <p:spPr>
          <a:xfrm>
            <a:off x="548640" y="4389120"/>
            <a:ext cx="585216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Not-a-Leaf Rejection Rate</a:t>
            </a:r>
          </a:p>
        </p:txBody>
      </p:sp>
      <p:sp>
        <p:nvSpPr>
          <p:cNvPr id="17" name="Rectangle 16"/>
          <p:cNvSpPr/>
          <p:nvPr/>
        </p:nvSpPr>
        <p:spPr>
          <a:xfrm>
            <a:off x="6583680" y="4389120"/>
            <a:ext cx="4480560" cy="411480"/>
          </a:xfrm>
          <a:prstGeom prst="rect">
            <a:avLst/>
          </a:prstGeom>
          <a:solidFill>
            <a:srgbClr val="CCCCCC"/>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&gt; 99 % on synthetic images</a:t>
            </a:r>
          </a:p>
        </p:txBody>
      </p:sp>
      <p:sp>
        <p:nvSpPr>
          <p:cNvPr id="18" name="Rectangle 17"/>
          <p:cNvSpPr/>
          <p:nvPr/>
        </p:nvSpPr>
        <p:spPr>
          <a:xfrm>
            <a:off x="548640" y="4846320"/>
            <a:ext cx="58521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000000"/>
                </a:solidFill>
              </a:rPr>
              <a:t>Parameters</a:t>
            </a:r>
          </a:p>
        </p:txBody>
      </p:sp>
      <p:sp>
        <p:nvSpPr>
          <p:cNvPr id="19" name="Rectangle 18"/>
          <p:cNvSpPr/>
          <p:nvPr/>
        </p:nvSpPr>
        <p:spPr>
          <a:xfrm>
            <a:off x="6583680" y="4846320"/>
            <a:ext cx="4480560" cy="4114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00000"/>
                </a:solidFill>
              </a:rPr>
              <a:t>12 M  (vs. VGG16: 138 M)</a:t>
            </a:r>
          </a:p>
        </p:txBody>
      </p:sp>
      <p:sp>
        <p:nvSpPr>
          <p:cNvPr id="20" name="TextBox 19"/>
          <p:cNvSpPr txBox="1"/>
          <p:nvPr/>
        </p:nvSpPr>
        <p:spPr>
          <a:xfrm>
            <a:off x="548640" y="5577840"/>
            <a:ext cx="10972800" cy="640080"/>
          </a:xfrm>
          <a:prstGeom prst="rect">
            <a:avLst/>
          </a:prstGeom>
          <a:noFill/>
        </p:spPr>
        <p:txBody>
          <a:bodyPr wrap="square">
            <a:spAutoFit/>
          </a:bodyPr>
          <a:lstStyle/>
          <a:p>
            <a:pPr algn="l"/>
            <a:r>
              <a:rPr sz="1300" b="0" i="0">
                <a:solidFill>
                  <a:srgbClr val="000000"/>
                </a:solidFill>
              </a:rPr>
              <a:t>Key Findings:
• Transfer learning greatly improved classification performance.
• Balanced dataset (WeightedRandomSampler) lowered prediction bias.
• Minimal overfitting observed — lightweight architecture suitable for real-time deployment.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LIMITATIONS &amp; FUTURE WORK</a:t>
            </a:r>
          </a:p>
        </p:txBody>
      </p:sp>
      <p:sp>
        <p:nvSpPr>
          <p:cNvPr id="3" name="TextBox 2"/>
          <p:cNvSpPr txBox="1"/>
          <p:nvPr/>
        </p:nvSpPr>
        <p:spPr>
          <a:xfrm>
            <a:off x="548640" y="1188720"/>
            <a:ext cx="10972800" cy="365760"/>
          </a:xfrm>
          <a:prstGeom prst="rect">
            <a:avLst/>
          </a:prstGeom>
          <a:noFill/>
        </p:spPr>
        <p:txBody>
          <a:bodyPr wrap="square">
            <a:spAutoFit/>
          </a:bodyPr>
          <a:lstStyle/>
          <a:p>
            <a:pPr algn="l"/>
            <a:r>
              <a:rPr sz="1800" b="1" i="0">
                <a:solidFill>
                  <a:srgbClr val="000000"/>
                </a:solidFill>
              </a:rPr>
              <a:t>Current Limitations</a:t>
            </a:r>
          </a:p>
        </p:txBody>
      </p:sp>
      <p:sp>
        <p:nvSpPr>
          <p:cNvPr id="4" name="TextBox 3"/>
          <p:cNvSpPr txBox="1"/>
          <p:nvPr/>
        </p:nvSpPr>
        <p:spPr>
          <a:xfrm>
            <a:off x="731520" y="1645920"/>
            <a:ext cx="10881360" cy="384048"/>
          </a:xfrm>
          <a:prstGeom prst="rect">
            <a:avLst/>
          </a:prstGeom>
          <a:noFill/>
        </p:spPr>
        <p:txBody>
          <a:bodyPr wrap="square">
            <a:spAutoFit/>
          </a:bodyPr>
          <a:lstStyle/>
          <a:p>
            <a:pPr algn="l"/>
            <a:r>
              <a:rPr sz="1500" b="0" i="0">
                <a:solidFill>
                  <a:srgbClr val="000000"/>
                </a:solidFill>
              </a:rPr>
              <a:t>• Limited to the 14 crop species present in the PlantVillage training dataset.</a:t>
            </a:r>
          </a:p>
        </p:txBody>
      </p:sp>
      <p:sp>
        <p:nvSpPr>
          <p:cNvPr id="5" name="TextBox 4"/>
          <p:cNvSpPr txBox="1"/>
          <p:nvPr/>
        </p:nvSpPr>
        <p:spPr>
          <a:xfrm>
            <a:off x="731520" y="2048256"/>
            <a:ext cx="10881360" cy="384048"/>
          </a:xfrm>
          <a:prstGeom prst="rect">
            <a:avLst/>
          </a:prstGeom>
          <a:noFill/>
        </p:spPr>
        <p:txBody>
          <a:bodyPr wrap="square">
            <a:spAutoFit/>
          </a:bodyPr>
          <a:lstStyle/>
          <a:p>
            <a:pPr algn="l"/>
            <a:r>
              <a:rPr sz="1500" b="0" i="0">
                <a:solidFill>
                  <a:srgbClr val="000000"/>
                </a:solidFill>
              </a:rPr>
              <a:t>• Performance degrades with very blurry or poorly lit real-world images.</a:t>
            </a:r>
          </a:p>
        </p:txBody>
      </p:sp>
      <p:sp>
        <p:nvSpPr>
          <p:cNvPr id="6" name="TextBox 5"/>
          <p:cNvSpPr txBox="1"/>
          <p:nvPr/>
        </p:nvSpPr>
        <p:spPr>
          <a:xfrm>
            <a:off x="731520" y="2450592"/>
            <a:ext cx="10881360" cy="384048"/>
          </a:xfrm>
          <a:prstGeom prst="rect">
            <a:avLst/>
          </a:prstGeom>
          <a:noFill/>
        </p:spPr>
        <p:txBody>
          <a:bodyPr wrap="square">
            <a:spAutoFit/>
          </a:bodyPr>
          <a:lstStyle/>
          <a:p>
            <a:pPr algn="l"/>
            <a:r>
              <a:rPr sz="1500" b="0" i="0">
                <a:solidFill>
                  <a:srgbClr val="000000"/>
                </a:solidFill>
              </a:rPr>
              <a:t>• Not-a-Leaf rejection trained on synthetic images — less robust to real non-plant photos.</a:t>
            </a:r>
          </a:p>
        </p:txBody>
      </p:sp>
      <p:sp>
        <p:nvSpPr>
          <p:cNvPr id="7" name="TextBox 6"/>
          <p:cNvSpPr txBox="1"/>
          <p:nvPr/>
        </p:nvSpPr>
        <p:spPr>
          <a:xfrm>
            <a:off x="731520" y="2852928"/>
            <a:ext cx="10881360" cy="384048"/>
          </a:xfrm>
          <a:prstGeom prst="rect">
            <a:avLst/>
          </a:prstGeom>
          <a:noFill/>
        </p:spPr>
        <p:txBody>
          <a:bodyPr wrap="square">
            <a:spAutoFit/>
          </a:bodyPr>
          <a:lstStyle/>
          <a:p>
            <a:pPr algn="l"/>
            <a:r>
              <a:rPr sz="1500" b="0" i="0">
                <a:solidFill>
                  <a:srgbClr val="000000"/>
                </a:solidFill>
              </a:rPr>
              <a:t>• Missing important crops: Mango, Rice, Wheat.</a:t>
            </a:r>
          </a:p>
        </p:txBody>
      </p:sp>
      <p:sp>
        <p:nvSpPr>
          <p:cNvPr id="8" name="TextBox 7"/>
          <p:cNvSpPr txBox="1"/>
          <p:nvPr/>
        </p:nvSpPr>
        <p:spPr>
          <a:xfrm>
            <a:off x="731520" y="3255264"/>
            <a:ext cx="10881360" cy="384048"/>
          </a:xfrm>
          <a:prstGeom prst="rect">
            <a:avLst/>
          </a:prstGeom>
          <a:noFill/>
        </p:spPr>
        <p:txBody>
          <a:bodyPr wrap="square">
            <a:spAutoFit/>
          </a:bodyPr>
          <a:lstStyle/>
          <a:p>
            <a:pPr algn="l"/>
            <a:r>
              <a:rPr sz="1500" b="0" i="0">
                <a:solidFill>
                  <a:srgbClr val="000000"/>
                </a:solidFill>
              </a:rPr>
              <a:t>• Controlled lab backgrounds in training data differ from real farm conditions.</a:t>
            </a:r>
          </a:p>
        </p:txBody>
      </p:sp>
      <p:sp>
        <p:nvSpPr>
          <p:cNvPr id="9" name="TextBox 8"/>
          <p:cNvSpPr txBox="1"/>
          <p:nvPr/>
        </p:nvSpPr>
        <p:spPr>
          <a:xfrm>
            <a:off x="548640" y="3840480"/>
            <a:ext cx="10972800" cy="365760"/>
          </a:xfrm>
          <a:prstGeom prst="rect">
            <a:avLst/>
          </a:prstGeom>
          <a:noFill/>
        </p:spPr>
        <p:txBody>
          <a:bodyPr wrap="square">
            <a:spAutoFit/>
          </a:bodyPr>
          <a:lstStyle/>
          <a:p>
            <a:pPr algn="l"/>
            <a:r>
              <a:rPr sz="1800" b="1" i="0">
                <a:solidFill>
                  <a:srgbClr val="000000"/>
                </a:solidFill>
              </a:rPr>
              <a:t>Future Work</a:t>
            </a:r>
          </a:p>
        </p:txBody>
      </p:sp>
      <p:sp>
        <p:nvSpPr>
          <p:cNvPr id="10" name="TextBox 9"/>
          <p:cNvSpPr txBox="1"/>
          <p:nvPr/>
        </p:nvSpPr>
        <p:spPr>
          <a:xfrm>
            <a:off x="731520" y="4297680"/>
            <a:ext cx="10881360" cy="384048"/>
          </a:xfrm>
          <a:prstGeom prst="rect">
            <a:avLst/>
          </a:prstGeom>
          <a:noFill/>
        </p:spPr>
        <p:txBody>
          <a:bodyPr wrap="square">
            <a:spAutoFit/>
          </a:bodyPr>
          <a:lstStyle/>
          <a:p>
            <a:pPr algn="l"/>
            <a:r>
              <a:rPr sz="1500" b="0" i="0">
                <a:solidFill>
                  <a:srgbClr val="000000"/>
                </a:solidFill>
              </a:rPr>
              <a:t>• Expand dataset to include Mango, Rice, Wheat, Banana and other crops.</a:t>
            </a:r>
          </a:p>
        </p:txBody>
      </p:sp>
      <p:sp>
        <p:nvSpPr>
          <p:cNvPr id="11" name="TextBox 10"/>
          <p:cNvSpPr txBox="1"/>
          <p:nvPr/>
        </p:nvSpPr>
        <p:spPr>
          <a:xfrm>
            <a:off x="731520" y="4700016"/>
            <a:ext cx="10881360" cy="384048"/>
          </a:xfrm>
          <a:prstGeom prst="rect">
            <a:avLst/>
          </a:prstGeom>
          <a:noFill/>
        </p:spPr>
        <p:txBody>
          <a:bodyPr wrap="square">
            <a:spAutoFit/>
          </a:bodyPr>
          <a:lstStyle/>
          <a:p>
            <a:pPr algn="l"/>
            <a:r>
              <a:rPr sz="1500" b="0" i="0">
                <a:solidFill>
                  <a:srgbClr val="000000"/>
                </a:solidFill>
              </a:rPr>
              <a:t>• Replace synthetic not-a-leaf images with real photos (soil, hands, walls, animals).</a:t>
            </a:r>
          </a:p>
        </p:txBody>
      </p:sp>
      <p:sp>
        <p:nvSpPr>
          <p:cNvPr id="12" name="TextBox 11"/>
          <p:cNvSpPr txBox="1"/>
          <p:nvPr/>
        </p:nvSpPr>
        <p:spPr>
          <a:xfrm>
            <a:off x="731520" y="5102352"/>
            <a:ext cx="10881360" cy="384048"/>
          </a:xfrm>
          <a:prstGeom prst="rect">
            <a:avLst/>
          </a:prstGeom>
          <a:noFill/>
        </p:spPr>
        <p:txBody>
          <a:bodyPr wrap="square">
            <a:spAutoFit/>
          </a:bodyPr>
          <a:lstStyle/>
          <a:p>
            <a:pPr algn="l"/>
            <a:r>
              <a:rPr sz="1500" b="0" i="0">
                <a:solidFill>
                  <a:srgbClr val="000000"/>
                </a:solidFill>
              </a:rPr>
              <a:t>• Deploy as a mobile app (Android/iOS) for field use by farmers.</a:t>
            </a:r>
          </a:p>
        </p:txBody>
      </p:sp>
      <p:sp>
        <p:nvSpPr>
          <p:cNvPr id="13" name="TextBox 12"/>
          <p:cNvSpPr txBox="1"/>
          <p:nvPr/>
        </p:nvSpPr>
        <p:spPr>
          <a:xfrm>
            <a:off x="731520" y="5504688"/>
            <a:ext cx="10881360" cy="384048"/>
          </a:xfrm>
          <a:prstGeom prst="rect">
            <a:avLst/>
          </a:prstGeom>
          <a:noFill/>
        </p:spPr>
        <p:txBody>
          <a:bodyPr wrap="square">
            <a:spAutoFit/>
          </a:bodyPr>
          <a:lstStyle/>
          <a:p>
            <a:pPr algn="l"/>
            <a:r>
              <a:rPr sz="1500" b="0" i="0">
                <a:solidFill>
                  <a:srgbClr val="000000"/>
                </a:solidFill>
              </a:rPr>
              <a:t>• Integrate with IoT sensors for real-time continuous field monitoring.</a:t>
            </a:r>
          </a:p>
        </p:txBody>
      </p:sp>
      <p:sp>
        <p:nvSpPr>
          <p:cNvPr id="14" name="TextBox 13"/>
          <p:cNvSpPr txBox="1"/>
          <p:nvPr/>
        </p:nvSpPr>
        <p:spPr>
          <a:xfrm>
            <a:off x="731520" y="5907024"/>
            <a:ext cx="10881360" cy="384048"/>
          </a:xfrm>
          <a:prstGeom prst="rect">
            <a:avLst/>
          </a:prstGeom>
          <a:noFill/>
        </p:spPr>
        <p:txBody>
          <a:bodyPr wrap="square">
            <a:spAutoFit/>
          </a:bodyPr>
          <a:lstStyle/>
          <a:p>
            <a:pPr algn="l"/>
            <a:r>
              <a:rPr sz="1500" b="0" i="0">
                <a:solidFill>
                  <a:srgbClr val="000000"/>
                </a:solidFill>
              </a:rPr>
              <a:t>• Add Nginx + Gunicorn + Docker for production-grade deployment.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CONCLUSION</a:t>
            </a:r>
          </a:p>
        </p:txBody>
      </p:sp>
      <p:sp>
        <p:nvSpPr>
          <p:cNvPr id="3" name="TextBox 2"/>
          <p:cNvSpPr txBox="1"/>
          <p:nvPr/>
        </p:nvSpPr>
        <p:spPr>
          <a:xfrm>
            <a:off x="548640" y="1188720"/>
            <a:ext cx="11064240" cy="5303520"/>
          </a:xfrm>
          <a:prstGeom prst="rect">
            <a:avLst/>
          </a:prstGeom>
          <a:noFill/>
        </p:spPr>
        <p:txBody>
          <a:bodyPr wrap="square">
            <a:spAutoFit/>
          </a:bodyPr>
          <a:lstStyle/>
          <a:p>
            <a:pPr algn="l"/>
            <a:r>
              <a:rPr sz="1600" b="0" i="0">
                <a:solidFill>
                  <a:srgbClr val="000000"/>
                </a:solidFill>
              </a:rPr>
              <a:t>LeafScan is a robust, full-stack deep learning system that accurately detects plant leaf diseases using the EfficientNetB3 architecture trained on the PlantVillage dataset.
Key achievements:
• Achieved 94–96 % test accuracy across 39 classes (38 disease/healthy + not-a-leaf).
• 3-layer not-a-leaf rejection mechanism prevents misclassification of invalid inputs.
• 3-phase training strategy prevents catastrophic forgetting of ImageNet features.
• WeightedRandomSampler + label smoothing ensure balanced, generalised learning.
• Real-time REST API (Flask) with a responsive HTML/CSS/JS frontend.
• Model is compact (~48 MB, 12 M parameters) and deployable on CPU or GPU.
The system demonstrates that transfer learning, careful data augmentation, and class balancing together deliver high classification accuracy and strong real-world generalisation for automated plant disease detection — contributing to precision agriculture and food security.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rPr>
              <a:t>REFERENCES</a:t>
            </a:r>
          </a:p>
        </p:txBody>
      </p:sp>
      <p:sp>
        <p:nvSpPr>
          <p:cNvPr id="3" name="TextBox 2"/>
          <p:cNvSpPr txBox="1"/>
          <p:nvPr/>
        </p:nvSpPr>
        <p:spPr>
          <a:xfrm>
            <a:off x="548640" y="1188720"/>
            <a:ext cx="11064240" cy="457200"/>
          </a:xfrm>
          <a:prstGeom prst="rect">
            <a:avLst/>
          </a:prstGeom>
          <a:noFill/>
        </p:spPr>
        <p:txBody>
          <a:bodyPr wrap="square">
            <a:spAutoFit/>
          </a:bodyPr>
          <a:lstStyle/>
          <a:p>
            <a:pPr algn="l"/>
            <a:r>
              <a:rPr sz="1300" b="0" i="0">
                <a:solidFill>
                  <a:srgbClr val="000000"/>
                </a:solidFill>
              </a:rPr>
              <a:t>1. Hughes, D. P., &amp; Salathé, M. (2015). An open access repository of images on plant health to enable the development of mobile disease diagnostics. arXiv:1511.08060.</a:t>
            </a:r>
          </a:p>
        </p:txBody>
      </p:sp>
      <p:sp>
        <p:nvSpPr>
          <p:cNvPr id="4" name="TextBox 3"/>
          <p:cNvSpPr txBox="1"/>
          <p:nvPr/>
        </p:nvSpPr>
        <p:spPr>
          <a:xfrm>
            <a:off x="548640" y="1655064"/>
            <a:ext cx="11064240" cy="457200"/>
          </a:xfrm>
          <a:prstGeom prst="rect">
            <a:avLst/>
          </a:prstGeom>
          <a:noFill/>
        </p:spPr>
        <p:txBody>
          <a:bodyPr wrap="square">
            <a:spAutoFit/>
          </a:bodyPr>
          <a:lstStyle/>
          <a:p>
            <a:pPr algn="l"/>
            <a:r>
              <a:rPr sz="1300" b="0" i="0">
                <a:solidFill>
                  <a:srgbClr val="000000"/>
                </a:solidFill>
              </a:rPr>
              <a:t>2. Tan, M., &amp; Le, Q. V. (2019). EfficientNet: Rethinking model scaling for convolutional neural networks. Proceedings of ICML 2019.</a:t>
            </a:r>
          </a:p>
        </p:txBody>
      </p:sp>
      <p:sp>
        <p:nvSpPr>
          <p:cNvPr id="5" name="TextBox 4"/>
          <p:cNvSpPr txBox="1"/>
          <p:nvPr/>
        </p:nvSpPr>
        <p:spPr>
          <a:xfrm>
            <a:off x="548640" y="2121408"/>
            <a:ext cx="11064240" cy="457200"/>
          </a:xfrm>
          <a:prstGeom prst="rect">
            <a:avLst/>
          </a:prstGeom>
          <a:noFill/>
        </p:spPr>
        <p:txBody>
          <a:bodyPr wrap="square">
            <a:spAutoFit/>
          </a:bodyPr>
          <a:lstStyle/>
          <a:p>
            <a:pPr algn="l"/>
            <a:r>
              <a:rPr sz="1300" b="0" i="0">
                <a:solidFill>
                  <a:srgbClr val="000000"/>
                </a:solidFill>
              </a:rPr>
              <a:t>3. Mohanty, S. P., et al. (2016). Using deep learning for image-based plant disease detection. Frontiers in Plant Science, 7, 1419.</a:t>
            </a:r>
          </a:p>
        </p:txBody>
      </p:sp>
      <p:sp>
        <p:nvSpPr>
          <p:cNvPr id="6" name="TextBox 5"/>
          <p:cNvSpPr txBox="1"/>
          <p:nvPr/>
        </p:nvSpPr>
        <p:spPr>
          <a:xfrm>
            <a:off x="548640" y="2587752"/>
            <a:ext cx="11064240" cy="457200"/>
          </a:xfrm>
          <a:prstGeom prst="rect">
            <a:avLst/>
          </a:prstGeom>
          <a:noFill/>
        </p:spPr>
        <p:txBody>
          <a:bodyPr wrap="square">
            <a:spAutoFit/>
          </a:bodyPr>
          <a:lstStyle/>
          <a:p>
            <a:pPr algn="l"/>
            <a:r>
              <a:rPr sz="1300" b="0" i="0">
                <a:solidFill>
                  <a:srgbClr val="000000"/>
                </a:solidFill>
              </a:rPr>
              <a:t>4. Howard, A., et al. (2019). Searching for MobileNetV3. Proceedings of ICCV 2019.</a:t>
            </a:r>
          </a:p>
        </p:txBody>
      </p:sp>
      <p:sp>
        <p:nvSpPr>
          <p:cNvPr id="7" name="TextBox 6"/>
          <p:cNvSpPr txBox="1"/>
          <p:nvPr/>
        </p:nvSpPr>
        <p:spPr>
          <a:xfrm>
            <a:off x="548640" y="3054096"/>
            <a:ext cx="11064240" cy="457200"/>
          </a:xfrm>
          <a:prstGeom prst="rect">
            <a:avLst/>
          </a:prstGeom>
          <a:noFill/>
        </p:spPr>
        <p:txBody>
          <a:bodyPr wrap="square">
            <a:spAutoFit/>
          </a:bodyPr>
          <a:lstStyle/>
          <a:p>
            <a:pPr algn="l"/>
            <a:r>
              <a:rPr sz="1300" b="0" i="0">
                <a:solidFill>
                  <a:srgbClr val="000000"/>
                </a:solidFill>
              </a:rPr>
              <a:t>5. He, K., et al. (2016). Deep residual learning for image recognition. Proceedings of CVPR 2016.</a:t>
            </a:r>
          </a:p>
        </p:txBody>
      </p:sp>
      <p:sp>
        <p:nvSpPr>
          <p:cNvPr id="8" name="TextBox 7"/>
          <p:cNvSpPr txBox="1"/>
          <p:nvPr/>
        </p:nvSpPr>
        <p:spPr>
          <a:xfrm>
            <a:off x="548640" y="3520440"/>
            <a:ext cx="11064240" cy="457200"/>
          </a:xfrm>
          <a:prstGeom prst="rect">
            <a:avLst/>
          </a:prstGeom>
          <a:noFill/>
        </p:spPr>
        <p:txBody>
          <a:bodyPr wrap="square">
            <a:spAutoFit/>
          </a:bodyPr>
          <a:lstStyle/>
          <a:p>
            <a:pPr algn="l"/>
            <a:r>
              <a:rPr sz="1300" b="0" i="0">
                <a:solidFill>
                  <a:srgbClr val="000000"/>
                </a:solidFill>
              </a:rPr>
              <a:t>6. Loshchilov, I., &amp; Hutter, F. (2019). Decoupled weight decay regularisation. ICLR 2019.</a:t>
            </a:r>
          </a:p>
        </p:txBody>
      </p:sp>
      <p:sp>
        <p:nvSpPr>
          <p:cNvPr id="9" name="TextBox 8"/>
          <p:cNvSpPr txBox="1"/>
          <p:nvPr/>
        </p:nvSpPr>
        <p:spPr>
          <a:xfrm>
            <a:off x="548640" y="3986784"/>
            <a:ext cx="11064240" cy="457200"/>
          </a:xfrm>
          <a:prstGeom prst="rect">
            <a:avLst/>
          </a:prstGeom>
          <a:noFill/>
        </p:spPr>
        <p:txBody>
          <a:bodyPr wrap="square">
            <a:spAutoFit/>
          </a:bodyPr>
          <a:lstStyle/>
          <a:p>
            <a:pPr algn="l"/>
            <a:r>
              <a:rPr sz="1300" b="0" i="0">
                <a:solidFill>
                  <a:srgbClr val="000000"/>
                </a:solidFill>
              </a:rPr>
              <a:t>7. Smith, L. N. (2018). A disciplined approach to neural network hyper-parameters. arXiv:1803.09820.</a:t>
            </a:r>
          </a:p>
        </p:txBody>
      </p:sp>
      <p:sp>
        <p:nvSpPr>
          <p:cNvPr id="10" name="TextBox 9"/>
          <p:cNvSpPr txBox="1"/>
          <p:nvPr/>
        </p:nvSpPr>
        <p:spPr>
          <a:xfrm>
            <a:off x="548640" y="4453128"/>
            <a:ext cx="11064240" cy="457200"/>
          </a:xfrm>
          <a:prstGeom prst="rect">
            <a:avLst/>
          </a:prstGeom>
          <a:noFill/>
        </p:spPr>
        <p:txBody>
          <a:bodyPr wrap="square">
            <a:spAutoFit/>
          </a:bodyPr>
          <a:lstStyle/>
          <a:p>
            <a:pPr algn="l"/>
            <a:r>
              <a:rPr sz="1300" b="0" i="0">
                <a:solidFill>
                  <a:srgbClr val="000000"/>
                </a:solidFill>
              </a:rPr>
              <a:t>8. PyTorch Documentation — https://pytorch.org/docs</a:t>
            </a:r>
          </a:p>
        </p:txBody>
      </p:sp>
      <p:sp>
        <p:nvSpPr>
          <p:cNvPr id="11" name="TextBox 10"/>
          <p:cNvSpPr txBox="1"/>
          <p:nvPr/>
        </p:nvSpPr>
        <p:spPr>
          <a:xfrm>
            <a:off x="548640" y="4919472"/>
            <a:ext cx="11064240" cy="457200"/>
          </a:xfrm>
          <a:prstGeom prst="rect">
            <a:avLst/>
          </a:prstGeom>
          <a:noFill/>
        </p:spPr>
        <p:txBody>
          <a:bodyPr wrap="square">
            <a:spAutoFit/>
          </a:bodyPr>
          <a:lstStyle/>
          <a:p>
            <a:pPr algn="l"/>
            <a:r>
              <a:rPr sz="1300" b="0" i="0">
                <a:solidFill>
                  <a:srgbClr val="000000"/>
                </a:solidFill>
              </a:rPr>
              <a:t>9. Flask Documentation — https://flask.palletsprojects.com</a:t>
            </a:r>
          </a:p>
        </p:txBody>
      </p:sp>
      <p:sp>
        <p:nvSpPr>
          <p:cNvPr id="12" name="TextBox 11"/>
          <p:cNvSpPr txBox="1"/>
          <p:nvPr/>
        </p:nvSpPr>
        <p:spPr>
          <a:xfrm>
            <a:off x="548640" y="5385816"/>
            <a:ext cx="11064240" cy="457200"/>
          </a:xfrm>
          <a:prstGeom prst="rect">
            <a:avLst/>
          </a:prstGeom>
          <a:noFill/>
        </p:spPr>
        <p:txBody>
          <a:bodyPr wrap="square">
            <a:spAutoFit/>
          </a:bodyPr>
          <a:lstStyle/>
          <a:p>
            <a:pPr algn="l"/>
            <a:r>
              <a:rPr sz="1300" b="0" i="0">
                <a:solidFill>
                  <a:srgbClr val="000000"/>
                </a:solidFill>
              </a:rPr>
              <a:t>10. timm library (Ross Wightman) — https://github.com/rwightman/pytorch-image-models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0"/>
            <a:ext cx="11247120" cy="1097280"/>
          </a:xfrm>
          <a:prstGeom prst="rect">
            <a:avLst/>
          </a:prstGeom>
          <a:noFill/>
        </p:spPr>
        <p:txBody>
          <a:bodyPr wrap="square">
            <a:spAutoFit/>
          </a:bodyPr>
          <a:lstStyle/>
          <a:p>
            <a:pPr algn="ctr"/>
            <a:r>
              <a:rPr sz="5400" b="1" i="0">
                <a:solidFill>
                  <a:srgbClr val="000000"/>
                </a:solidFill>
              </a:rPr>
              <a:t>THANK YOU</a:t>
            </a:r>
          </a:p>
        </p:txBody>
      </p:sp>
      <p:sp>
        <p:nvSpPr>
          <p:cNvPr id="3" name="Rectangle 2"/>
          <p:cNvSpPr/>
          <p:nvPr/>
        </p:nvSpPr>
        <p:spPr>
          <a:xfrm>
            <a:off x="1828800" y="3840480"/>
            <a:ext cx="8503920"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023360"/>
            <a:ext cx="11247120" cy="457200"/>
          </a:xfrm>
          <a:prstGeom prst="rect">
            <a:avLst/>
          </a:prstGeom>
          <a:noFill/>
        </p:spPr>
        <p:txBody>
          <a:bodyPr wrap="square">
            <a:spAutoFit/>
          </a:bodyPr>
          <a:lstStyle/>
          <a:p>
            <a:pPr algn="ctr"/>
            <a:r>
              <a:rPr sz="1800" b="0" i="1">
                <a:solidFill>
                  <a:srgbClr val="000000"/>
                </a:solidFill>
              </a:rPr>
              <a:t>LeafScan — Plant Leaf Disease Detection Using EfficientNetB3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